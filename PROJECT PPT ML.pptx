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1785921d2f90fa93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1785921d2f90fa93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1785921d2f90fa93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1785921d2f90fa9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146400" y="644145"/>
            <a:ext cx="9899100" cy="2393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800"/>
              <a:buFont typeface="Play"/>
              <a:buNone/>
            </a:pPr>
            <a:r>
              <a:rPr b="1" lang="en-IN"/>
              <a:t>Waste Classification for Recycling Using CNN and Transfer Learning</a:t>
            </a:r>
            <a:endParaRPr/>
          </a:p>
        </p:txBody>
      </p:sp>
      <p:sp>
        <p:nvSpPr>
          <p:cNvPr id="85" name="Google Shape;85;p13"/>
          <p:cNvSpPr txBox="1"/>
          <p:nvPr>
            <p:ph idx="1" type="subTitle"/>
          </p:nvPr>
        </p:nvSpPr>
        <p:spPr>
          <a:xfrm>
            <a:off x="1335100" y="3471400"/>
            <a:ext cx="9521700" cy="38205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ctr">
              <a:lnSpc>
                <a:spcPct val="90000"/>
              </a:lnSpc>
              <a:spcBef>
                <a:spcPts val="0"/>
              </a:spcBef>
              <a:spcAft>
                <a:spcPts val="0"/>
              </a:spcAft>
              <a:buClr>
                <a:schemeClr val="dk1"/>
              </a:buClr>
              <a:buSzPct val="53333"/>
              <a:buNone/>
            </a:pPr>
            <a:r>
              <a:rPr b="1" lang="en-IN" sz="4500"/>
              <a:t>Guide:</a:t>
            </a:r>
            <a:endParaRPr b="1" sz="4500"/>
          </a:p>
          <a:p>
            <a:pPr indent="0" lvl="0" marL="0" rtl="0" algn="ctr">
              <a:lnSpc>
                <a:spcPct val="90000"/>
              </a:lnSpc>
              <a:spcBef>
                <a:spcPts val="0"/>
              </a:spcBef>
              <a:spcAft>
                <a:spcPts val="0"/>
              </a:spcAft>
              <a:buClr>
                <a:schemeClr val="dk1"/>
              </a:buClr>
              <a:buSzPct val="53333"/>
              <a:buNone/>
            </a:pPr>
            <a:br>
              <a:rPr lang="en-IN" sz="4500"/>
            </a:br>
            <a:r>
              <a:rPr lang="en-IN" sz="4500"/>
              <a:t>Dr. Y. Lakshmi Prasanna</a:t>
            </a:r>
            <a:br>
              <a:rPr lang="en-IN" sz="4500"/>
            </a:br>
            <a:r>
              <a:rPr lang="en-IN" sz="4500"/>
              <a:t>Assistant Professor, CS-IT</a:t>
            </a:r>
            <a:endParaRPr sz="4500"/>
          </a:p>
          <a:p>
            <a:pPr indent="0" lvl="0" marL="0" rtl="0" algn="ctr">
              <a:lnSpc>
                <a:spcPct val="90000"/>
              </a:lnSpc>
              <a:spcBef>
                <a:spcPts val="1000"/>
              </a:spcBef>
              <a:spcAft>
                <a:spcPts val="0"/>
              </a:spcAft>
              <a:buClr>
                <a:schemeClr val="dk1"/>
              </a:buClr>
              <a:buSzPct val="53333"/>
              <a:buNone/>
            </a:pPr>
            <a:r>
              <a:rPr b="1" lang="en-IN" sz="4500"/>
              <a:t>Department:</a:t>
            </a:r>
            <a:endParaRPr b="1" sz="4500"/>
          </a:p>
          <a:p>
            <a:pPr indent="0" lvl="0" marL="0" rtl="0" algn="ctr">
              <a:lnSpc>
                <a:spcPct val="90000"/>
              </a:lnSpc>
              <a:spcBef>
                <a:spcPts val="1000"/>
              </a:spcBef>
              <a:spcAft>
                <a:spcPts val="0"/>
              </a:spcAft>
              <a:buClr>
                <a:schemeClr val="dk1"/>
              </a:buClr>
              <a:buSzPct val="53333"/>
              <a:buNone/>
            </a:pPr>
            <a:br>
              <a:rPr lang="en-IN" sz="4500"/>
            </a:br>
            <a:r>
              <a:rPr lang="en-IN" sz="4500"/>
              <a:t>Department of CS-IT &amp; AI-DS</a:t>
            </a:r>
            <a:endParaRPr sz="4500"/>
          </a:p>
          <a:p>
            <a:pPr indent="0" lvl="0" marL="0" rtl="0" algn="ctr">
              <a:lnSpc>
                <a:spcPct val="90000"/>
              </a:lnSpc>
              <a:spcBef>
                <a:spcPts val="1000"/>
              </a:spcBef>
              <a:spcAft>
                <a:spcPts val="0"/>
              </a:spcAft>
              <a:buClr>
                <a:schemeClr val="dk1"/>
              </a:buClr>
              <a:buSzPct val="53333"/>
              <a:buNone/>
            </a:pPr>
            <a:r>
              <a:rPr b="1" lang="en-IN" sz="4500"/>
              <a:t>Academic Year:</a:t>
            </a:r>
            <a:r>
              <a:rPr lang="en-IN" sz="4500"/>
              <a:t> 2026–27</a:t>
            </a:r>
            <a:r>
              <a:rPr b="1" lang="en-IN" sz="4500"/>
              <a:t>    </a:t>
            </a:r>
            <a:endParaRPr sz="4500"/>
          </a:p>
          <a:p>
            <a:pPr indent="0" lvl="0" marL="0" rtl="0" algn="ctr">
              <a:lnSpc>
                <a:spcPct val="90000"/>
              </a:lnSpc>
              <a:spcBef>
                <a:spcPts val="1000"/>
              </a:spcBef>
              <a:spcAft>
                <a:spcPts val="0"/>
              </a:spcAft>
              <a:buClr>
                <a:schemeClr val="dk1"/>
              </a:buClr>
              <a:buSzPct val="53333"/>
              <a:buNone/>
            </a:pPr>
            <a:r>
              <a:rPr b="1" lang="en-IN" sz="4500"/>
              <a:t>                                                                                                                                                                                                                                                                                  Presented by:</a:t>
            </a:r>
            <a:endParaRPr sz="4500"/>
          </a:p>
          <a:p>
            <a:pPr indent="0" lvl="0" marL="0" rtl="0" algn="ctr">
              <a:lnSpc>
                <a:spcPct val="90000"/>
              </a:lnSpc>
              <a:spcBef>
                <a:spcPts val="1000"/>
              </a:spcBef>
              <a:spcAft>
                <a:spcPts val="0"/>
              </a:spcAft>
              <a:buClr>
                <a:schemeClr val="dk1"/>
              </a:buClr>
              <a:buSzPct val="53333"/>
              <a:buNone/>
            </a:pPr>
            <a:r>
              <a:rPr b="1" lang="en-IN" sz="4500"/>
              <a:t>Keerthana G</a:t>
            </a:r>
            <a:r>
              <a:rPr lang="en-IN" sz="4500"/>
              <a:t> — 2520090132 </a:t>
            </a:r>
            <a:endParaRPr sz="4500"/>
          </a:p>
          <a:p>
            <a:pPr indent="0" lvl="0" marL="0" rtl="0" algn="ctr">
              <a:lnSpc>
                <a:spcPct val="90000"/>
              </a:lnSpc>
              <a:spcBef>
                <a:spcPts val="1000"/>
              </a:spcBef>
              <a:spcAft>
                <a:spcPts val="0"/>
              </a:spcAft>
              <a:buClr>
                <a:schemeClr val="dk1"/>
              </a:buClr>
              <a:buSzPct val="53333"/>
              <a:buNone/>
            </a:pPr>
            <a:r>
              <a:rPr b="1" lang="en-IN" sz="4500"/>
              <a:t>Sutte Alekhya</a:t>
            </a:r>
            <a:r>
              <a:rPr lang="en-IN" sz="4500"/>
              <a:t> — 2520090126 </a:t>
            </a:r>
            <a:endParaRPr sz="4500"/>
          </a:p>
          <a:p>
            <a:pPr indent="0" lvl="0" marL="0" rtl="0" algn="ctr">
              <a:lnSpc>
                <a:spcPct val="90000"/>
              </a:lnSpc>
              <a:spcBef>
                <a:spcPts val="100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516358"/>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IN" sz="6000"/>
              <a:t>Abstract :</a:t>
            </a:r>
            <a:endParaRPr sz="6000"/>
          </a:p>
        </p:txBody>
      </p:sp>
      <p:sp>
        <p:nvSpPr>
          <p:cNvPr id="91" name="Google Shape;91;p14"/>
          <p:cNvSpPr txBox="1"/>
          <p:nvPr>
            <p:ph idx="1" type="body"/>
          </p:nvPr>
        </p:nvSpPr>
        <p:spPr>
          <a:xfrm>
            <a:off x="838200" y="1841914"/>
            <a:ext cx="10515600" cy="4182900"/>
          </a:xfrm>
          <a:prstGeom prst="rect">
            <a:avLst/>
          </a:prstGeom>
          <a:noFill/>
          <a:ln>
            <a:noFill/>
          </a:ln>
        </p:spPr>
        <p:txBody>
          <a:bodyPr anchorCtr="0" anchor="t" bIns="45700" lIns="91425" spcFirstLastPara="1" rIns="91425" wrap="square" tIns="45700">
            <a:noAutofit/>
          </a:bodyPr>
          <a:lstStyle/>
          <a:p>
            <a:pPr indent="0" lvl="0" marL="228600" rtl="0" algn="just">
              <a:lnSpc>
                <a:spcPct val="90000"/>
              </a:lnSpc>
              <a:spcBef>
                <a:spcPts val="1000"/>
              </a:spcBef>
              <a:spcAft>
                <a:spcPts val="0"/>
              </a:spcAft>
              <a:buNone/>
            </a:pPr>
            <a:r>
              <a:rPr lang="en-IN" sz="2500"/>
              <a:t>The increasing amount of municipal solid waste has made waste segregation an important challenge. Manual waste segregation is time-consuming, costly, and prone to errors, which can reduce recycling efficiency. To address this problem, our project proposes an AI-based waste classification system using Convolutional Neural Networks (CNN) and Transfer Learning to automatically classify waste images. The system identifies seven categories of waste: Plastic, Paper, Cardboard, Glass, Metal, Organic, and Trash. By automating the classification process, the proposed system can improve recycling efficiency, reduce human effort, and help minimize environmental pollution. </a:t>
            </a:r>
            <a:endParaRPr sz="4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838200" y="557226"/>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IN" sz="6000"/>
              <a:t>Problem Statement :</a:t>
            </a:r>
            <a:endParaRPr sz="6000"/>
          </a:p>
        </p:txBody>
      </p:sp>
      <p:sp>
        <p:nvSpPr>
          <p:cNvPr id="97" name="Google Shape;97;p15"/>
          <p:cNvSpPr txBox="1"/>
          <p:nvPr>
            <p:ph idx="1" type="body"/>
          </p:nvPr>
        </p:nvSpPr>
        <p:spPr>
          <a:xfrm>
            <a:off x="838200" y="1761797"/>
            <a:ext cx="10515600" cy="4955100"/>
          </a:xfrm>
          <a:prstGeom prst="rect">
            <a:avLst/>
          </a:prstGeom>
          <a:noFill/>
          <a:ln>
            <a:noFill/>
          </a:ln>
        </p:spPr>
        <p:txBody>
          <a:bodyPr anchorCtr="0" anchor="t" bIns="45700" lIns="91425" spcFirstLastPara="1" rIns="91425" wrap="square" tIns="45700">
            <a:noAutofit/>
          </a:bodyPr>
          <a:lstStyle/>
          <a:p>
            <a:pPr indent="0" lvl="0" marL="228600" rtl="0" algn="just">
              <a:lnSpc>
                <a:spcPct val="90000"/>
              </a:lnSpc>
              <a:spcBef>
                <a:spcPts val="1000"/>
              </a:spcBef>
              <a:spcAft>
                <a:spcPts val="0"/>
              </a:spcAft>
              <a:buNone/>
            </a:pPr>
            <a:r>
              <a:rPr lang="en-IN" sz="2500"/>
              <a:t>The rapid growth of municipal solid waste has become a significant challenge for efficient waste management and recycling. Manual waste segregation is labour-intensive, time-consuming, costly, and highly dependent on human judgment, which can lead to incorrect classification of waste materials. When recyclable materials such as plastic, paper, cardboard, glass, and metal are mixed with organic waste and other trash, their recovery and recycling become less efficient. This creates a need for an intelligent and automated waste classification system that can accurately identify different types of waste from images. Therefore, this project proposes a CNN-based waste classification system with Transfer Learning to automate waste identification, reduce manual effort, improve sorting efficiency, and support more effective recycling and environmentally responsible waste management. </a:t>
            </a:r>
            <a:endParaRPr sz="4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715370" y="25793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IN" sz="6000"/>
              <a:t>Algorithm :</a:t>
            </a:r>
            <a:endParaRPr sz="6000"/>
          </a:p>
        </p:txBody>
      </p:sp>
      <p:sp>
        <p:nvSpPr>
          <p:cNvPr id="103" name="Google Shape;103;p16"/>
          <p:cNvSpPr txBox="1"/>
          <p:nvPr>
            <p:ph idx="1" type="body"/>
          </p:nvPr>
        </p:nvSpPr>
        <p:spPr>
          <a:xfrm>
            <a:off x="715370" y="1739532"/>
            <a:ext cx="10515600" cy="51999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800"/>
              <a:buNone/>
            </a:pPr>
            <a:r>
              <a:rPr b="1" lang="en-IN" sz="2500"/>
              <a:t>Convolutional Neural Network (CNN) :</a:t>
            </a:r>
            <a:endParaRPr sz="2500"/>
          </a:p>
          <a:p>
            <a:pPr indent="-209550" lvl="0" marL="228600" rtl="0" algn="just">
              <a:lnSpc>
                <a:spcPct val="90000"/>
              </a:lnSpc>
              <a:spcBef>
                <a:spcPts val="1000"/>
              </a:spcBef>
              <a:spcAft>
                <a:spcPts val="0"/>
              </a:spcAft>
              <a:buClr>
                <a:schemeClr val="dk1"/>
              </a:buClr>
              <a:buSzPts val="2500"/>
              <a:buChar char="•"/>
            </a:pPr>
            <a:r>
              <a:rPr lang="en-IN" sz="2500"/>
              <a:t>Used for image classification </a:t>
            </a:r>
            <a:endParaRPr sz="2500"/>
          </a:p>
          <a:p>
            <a:pPr indent="-209550" lvl="0" marL="228600" rtl="0" algn="just">
              <a:lnSpc>
                <a:spcPct val="90000"/>
              </a:lnSpc>
              <a:spcBef>
                <a:spcPts val="1000"/>
              </a:spcBef>
              <a:spcAft>
                <a:spcPts val="0"/>
              </a:spcAft>
              <a:buClr>
                <a:schemeClr val="dk1"/>
              </a:buClr>
              <a:buSzPts val="2500"/>
              <a:buChar char="•"/>
            </a:pPr>
            <a:r>
              <a:rPr lang="en-IN" sz="2500"/>
              <a:t>Automatically extracts image features </a:t>
            </a:r>
            <a:endParaRPr sz="2500"/>
          </a:p>
          <a:p>
            <a:pPr indent="-209550" lvl="0" marL="228600" rtl="0" algn="just">
              <a:lnSpc>
                <a:spcPct val="90000"/>
              </a:lnSpc>
              <a:spcBef>
                <a:spcPts val="1000"/>
              </a:spcBef>
              <a:spcAft>
                <a:spcPts val="0"/>
              </a:spcAft>
              <a:buClr>
                <a:schemeClr val="dk1"/>
              </a:buClr>
              <a:buSzPts val="2500"/>
              <a:buChar char="•"/>
            </a:pPr>
            <a:r>
              <a:rPr lang="en-IN" sz="2500"/>
              <a:t>Identifies patterns, shapes and textures </a:t>
            </a:r>
            <a:endParaRPr sz="2500"/>
          </a:p>
          <a:p>
            <a:pPr indent="0" lvl="0" marL="0" rtl="0" algn="just">
              <a:lnSpc>
                <a:spcPct val="90000"/>
              </a:lnSpc>
              <a:spcBef>
                <a:spcPts val="1000"/>
              </a:spcBef>
              <a:spcAft>
                <a:spcPts val="0"/>
              </a:spcAft>
              <a:buClr>
                <a:schemeClr val="dk1"/>
              </a:buClr>
              <a:buSzPts val="2800"/>
              <a:buNone/>
            </a:pPr>
            <a:r>
              <a:rPr b="1" lang="en-IN" sz="2500"/>
              <a:t>Transfer Learning :</a:t>
            </a:r>
            <a:endParaRPr sz="2500"/>
          </a:p>
          <a:p>
            <a:pPr indent="-209550" lvl="0" marL="228600" rtl="0" algn="just">
              <a:lnSpc>
                <a:spcPct val="90000"/>
              </a:lnSpc>
              <a:spcBef>
                <a:spcPts val="1000"/>
              </a:spcBef>
              <a:spcAft>
                <a:spcPts val="0"/>
              </a:spcAft>
              <a:buClr>
                <a:schemeClr val="dk1"/>
              </a:buClr>
              <a:buSzPts val="2500"/>
              <a:buChar char="•"/>
            </a:pPr>
            <a:r>
              <a:rPr lang="en-IN" sz="2500"/>
              <a:t>Uses a pre-trained deep learning model </a:t>
            </a:r>
            <a:endParaRPr sz="2500"/>
          </a:p>
          <a:p>
            <a:pPr indent="-209550" lvl="0" marL="228600" rtl="0" algn="just">
              <a:lnSpc>
                <a:spcPct val="90000"/>
              </a:lnSpc>
              <a:spcBef>
                <a:spcPts val="1000"/>
              </a:spcBef>
              <a:spcAft>
                <a:spcPts val="0"/>
              </a:spcAft>
              <a:buClr>
                <a:schemeClr val="dk1"/>
              </a:buClr>
              <a:buSzPts val="2500"/>
              <a:buChar char="•"/>
            </a:pPr>
            <a:r>
              <a:rPr lang="en-IN" sz="2500"/>
              <a:t>Reuses learned image features </a:t>
            </a:r>
            <a:endParaRPr sz="2500"/>
          </a:p>
          <a:p>
            <a:pPr indent="-209550" lvl="0" marL="228600" rtl="0" algn="just">
              <a:lnSpc>
                <a:spcPct val="90000"/>
              </a:lnSpc>
              <a:spcBef>
                <a:spcPts val="1000"/>
              </a:spcBef>
              <a:spcAft>
                <a:spcPts val="0"/>
              </a:spcAft>
              <a:buClr>
                <a:schemeClr val="dk1"/>
              </a:buClr>
              <a:buSzPts val="2500"/>
              <a:buChar char="•"/>
            </a:pPr>
            <a:r>
              <a:rPr lang="en-IN" sz="2500"/>
              <a:t>Fine-tunes the model for waste classification </a:t>
            </a:r>
            <a:endParaRPr sz="2500"/>
          </a:p>
          <a:p>
            <a:pPr indent="-209550" lvl="0" marL="228600" rtl="0" algn="just">
              <a:lnSpc>
                <a:spcPct val="90000"/>
              </a:lnSpc>
              <a:spcBef>
                <a:spcPts val="1000"/>
              </a:spcBef>
              <a:spcAft>
                <a:spcPts val="0"/>
              </a:spcAft>
              <a:buClr>
                <a:schemeClr val="dk1"/>
              </a:buClr>
              <a:buSzPts val="2500"/>
              <a:buChar char="•"/>
            </a:pPr>
            <a:r>
              <a:rPr lang="en-IN" sz="2500"/>
              <a:t>Reduces training time </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838200" y="379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IN" sz="6000"/>
              <a:t>Dataset Identification :</a:t>
            </a:r>
            <a:endParaRPr sz="6000"/>
          </a:p>
        </p:txBody>
      </p:sp>
      <p:sp>
        <p:nvSpPr>
          <p:cNvPr id="109" name="Google Shape;109;p17"/>
          <p:cNvSpPr txBox="1"/>
          <p:nvPr>
            <p:ph idx="1" type="body"/>
          </p:nvPr>
        </p:nvSpPr>
        <p:spPr>
          <a:xfrm>
            <a:off x="838200" y="1832594"/>
            <a:ext cx="10515600" cy="466380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800"/>
              <a:buChar char="•"/>
            </a:pPr>
            <a:r>
              <a:rPr lang="en-IN"/>
              <a:t>Garbage Classification Dataset / Trash Net Dataset</a:t>
            </a:r>
            <a:endParaRPr/>
          </a:p>
          <a:p>
            <a:pPr indent="0" lvl="0" marL="0" rtl="0" algn="just">
              <a:lnSpc>
                <a:spcPct val="90000"/>
              </a:lnSpc>
              <a:spcBef>
                <a:spcPts val="1000"/>
              </a:spcBef>
              <a:spcAft>
                <a:spcPts val="0"/>
              </a:spcAft>
              <a:buClr>
                <a:schemeClr val="dk1"/>
              </a:buClr>
              <a:buSzPts val="2800"/>
              <a:buNone/>
            </a:pPr>
            <a:r>
              <a:rPr b="1" lang="en-IN"/>
              <a:t>Waste Categories:</a:t>
            </a:r>
            <a:endParaRPr/>
          </a:p>
          <a:p>
            <a:pPr indent="-228600" lvl="0" marL="228600" rtl="0" algn="just">
              <a:lnSpc>
                <a:spcPct val="90000"/>
              </a:lnSpc>
              <a:spcBef>
                <a:spcPts val="1000"/>
              </a:spcBef>
              <a:spcAft>
                <a:spcPts val="0"/>
              </a:spcAft>
              <a:buClr>
                <a:schemeClr val="dk1"/>
              </a:buClr>
              <a:buSzPts val="2800"/>
              <a:buChar char="•"/>
            </a:pPr>
            <a:r>
              <a:rPr lang="en-IN"/>
              <a:t>Plastic </a:t>
            </a:r>
            <a:endParaRPr/>
          </a:p>
          <a:p>
            <a:pPr indent="-228600" lvl="0" marL="228600" rtl="0" algn="just">
              <a:lnSpc>
                <a:spcPct val="90000"/>
              </a:lnSpc>
              <a:spcBef>
                <a:spcPts val="1000"/>
              </a:spcBef>
              <a:spcAft>
                <a:spcPts val="0"/>
              </a:spcAft>
              <a:buClr>
                <a:schemeClr val="dk1"/>
              </a:buClr>
              <a:buSzPts val="2800"/>
              <a:buChar char="•"/>
            </a:pPr>
            <a:r>
              <a:rPr lang="en-IN"/>
              <a:t>Paper </a:t>
            </a:r>
            <a:endParaRPr/>
          </a:p>
          <a:p>
            <a:pPr indent="-228600" lvl="0" marL="228600" rtl="0" algn="just">
              <a:lnSpc>
                <a:spcPct val="90000"/>
              </a:lnSpc>
              <a:spcBef>
                <a:spcPts val="1000"/>
              </a:spcBef>
              <a:spcAft>
                <a:spcPts val="0"/>
              </a:spcAft>
              <a:buClr>
                <a:schemeClr val="dk1"/>
              </a:buClr>
              <a:buSzPts val="2800"/>
              <a:buChar char="•"/>
            </a:pPr>
            <a:r>
              <a:rPr lang="en-IN"/>
              <a:t>Cardboard </a:t>
            </a:r>
            <a:endParaRPr/>
          </a:p>
          <a:p>
            <a:pPr indent="-228600" lvl="0" marL="228600" rtl="0" algn="just">
              <a:lnSpc>
                <a:spcPct val="90000"/>
              </a:lnSpc>
              <a:spcBef>
                <a:spcPts val="1000"/>
              </a:spcBef>
              <a:spcAft>
                <a:spcPts val="0"/>
              </a:spcAft>
              <a:buClr>
                <a:schemeClr val="dk1"/>
              </a:buClr>
              <a:buSzPts val="2800"/>
              <a:buChar char="•"/>
            </a:pPr>
            <a:r>
              <a:rPr lang="en-IN"/>
              <a:t>Glass </a:t>
            </a:r>
            <a:endParaRPr/>
          </a:p>
          <a:p>
            <a:pPr indent="-228600" lvl="0" marL="228600" rtl="0" algn="just">
              <a:lnSpc>
                <a:spcPct val="90000"/>
              </a:lnSpc>
              <a:spcBef>
                <a:spcPts val="1000"/>
              </a:spcBef>
              <a:spcAft>
                <a:spcPts val="0"/>
              </a:spcAft>
              <a:buClr>
                <a:schemeClr val="dk1"/>
              </a:buClr>
              <a:buSzPts val="2800"/>
              <a:buChar char="•"/>
            </a:pPr>
            <a:r>
              <a:rPr lang="en-IN"/>
              <a:t>Metal </a:t>
            </a:r>
            <a:endParaRPr/>
          </a:p>
          <a:p>
            <a:pPr indent="-228600" lvl="0" marL="228600" rtl="0" algn="just">
              <a:lnSpc>
                <a:spcPct val="90000"/>
              </a:lnSpc>
              <a:spcBef>
                <a:spcPts val="1000"/>
              </a:spcBef>
              <a:spcAft>
                <a:spcPts val="0"/>
              </a:spcAft>
              <a:buClr>
                <a:schemeClr val="dk1"/>
              </a:buClr>
              <a:buSzPts val="2800"/>
              <a:buChar char="•"/>
            </a:pPr>
            <a:r>
              <a:rPr lang="en-IN"/>
              <a:t>Organic Waste </a:t>
            </a:r>
            <a:endParaRPr/>
          </a:p>
          <a:p>
            <a:pPr indent="-228600" lvl="0" marL="228600" rtl="0" algn="just">
              <a:lnSpc>
                <a:spcPct val="90000"/>
              </a:lnSpc>
              <a:spcBef>
                <a:spcPts val="1000"/>
              </a:spcBef>
              <a:spcAft>
                <a:spcPts val="0"/>
              </a:spcAft>
              <a:buClr>
                <a:schemeClr val="dk1"/>
              </a:buClr>
              <a:buSzPts val="2800"/>
              <a:buChar char="•"/>
            </a:pPr>
            <a:r>
              <a:rPr lang="en-IN"/>
              <a:t>Trash</a:t>
            </a:r>
            <a:endParaRPr/>
          </a:p>
          <a:p>
            <a:pPr indent="0" lvl="0" marL="0" rtl="0" algn="l">
              <a:lnSpc>
                <a:spcPct val="90000"/>
              </a:lnSpc>
              <a:spcBef>
                <a:spcPts val="1000"/>
              </a:spcBef>
              <a:spcAft>
                <a:spcPts val="0"/>
              </a:spcAft>
              <a:buClr>
                <a:schemeClr val="dk1"/>
              </a:buClr>
              <a:buSzPts val="2800"/>
              <a:buNone/>
            </a:pPr>
            <a:r>
              <a:t/>
            </a:r>
            <a:endParaRPr/>
          </a:p>
        </p:txBody>
      </p:sp>
      <p:sp>
        <p:nvSpPr>
          <p:cNvPr id="110" name="Google Shape;110;p17"/>
          <p:cNvSpPr txBox="1"/>
          <p:nvPr/>
        </p:nvSpPr>
        <p:spPr>
          <a:xfrm>
            <a:off x="8095875" y="2646475"/>
            <a:ext cx="1919100" cy="317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2000" u="none" cap="none" strike="noStrike">
                <a:solidFill>
                  <a:schemeClr val="dk1"/>
                </a:solidFill>
                <a:latin typeface="Arial"/>
                <a:ea typeface="Arial"/>
                <a:cs typeface="Arial"/>
                <a:sym typeface="Arial"/>
              </a:rPr>
              <a:t>Dataset structure</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Plastic</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Paper</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Cardboard</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Glass</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Metal</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Organic</a:t>
            </a:r>
            <a:endParaRPr sz="1600"/>
          </a:p>
          <a:p>
            <a:pPr indent="0" lvl="0" marL="0" marR="0" rtl="0" algn="l">
              <a:spcBef>
                <a:spcPts val="0"/>
              </a:spcBef>
              <a:spcAft>
                <a:spcPts val="0"/>
              </a:spcAft>
              <a:buNone/>
            </a:pPr>
            <a:r>
              <a:rPr lang="en-IN" sz="2000">
                <a:solidFill>
                  <a:schemeClr val="dk1"/>
                </a:solidFill>
                <a:latin typeface="Arial"/>
                <a:ea typeface="Arial"/>
                <a:cs typeface="Arial"/>
                <a:sym typeface="Arial"/>
              </a:rPr>
              <a:t>└── Trash</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239100" y="2302700"/>
            <a:ext cx="59490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IN" sz="4700"/>
              <a:t>System </a:t>
            </a:r>
            <a:r>
              <a:rPr lang="en-IN" sz="4700"/>
              <a:t>Architecture :</a:t>
            </a:r>
            <a:endParaRPr sz="4700"/>
          </a:p>
        </p:txBody>
      </p:sp>
      <p:pic>
        <p:nvPicPr>
          <p:cNvPr id="116" name="Google Shape;116;p18"/>
          <p:cNvPicPr preferRelativeResize="0"/>
          <p:nvPr/>
        </p:nvPicPr>
        <p:blipFill>
          <a:blip r:embed="rId3">
            <a:alphaModFix/>
          </a:blip>
          <a:stretch>
            <a:fillRect/>
          </a:stretch>
        </p:blipFill>
        <p:spPr>
          <a:xfrm>
            <a:off x="6328275" y="152400"/>
            <a:ext cx="5732224" cy="65531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6000"/>
              <a:t>Conclusion : </a:t>
            </a:r>
            <a:endParaRPr sz="6000"/>
          </a:p>
        </p:txBody>
      </p:sp>
      <p:sp>
        <p:nvSpPr>
          <p:cNvPr id="122" name="Google Shape;122;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sz="2500"/>
              <a:t>The Waste Classification for Recycling Using CNN and Transfer Learning project provides an AI-based approach to automate the identification and classification of different types of waste. By using CNN techniques and pre-trained models such as MobileNetV2, ResNet50, and </a:t>
            </a:r>
            <a:r>
              <a:rPr lang="en-IN" sz="2500"/>
              <a:t>EfficientNetB0</a:t>
            </a:r>
            <a:r>
              <a:rPr lang="en-IN" sz="2500"/>
              <a:t>, the system can learn important visual features such as shapes, textures, and patterns from waste images. The system classifies waste into Plastic, Paper, Cardboard, Glass, Metal, Organic Waste, and Trash. Overall, the proposed approach can reduce dependence on manual segregation, save human effort, support efficient waste sorting, and contribute to improved recycling and better environmental management. </a:t>
            </a:r>
            <a:endParaRPr sz="4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4655592" y="2766218"/>
            <a:ext cx="288081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b="1" lang="en-IN" sz="4000"/>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