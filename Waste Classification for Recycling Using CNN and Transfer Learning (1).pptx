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</p:sldIdLst>
  <p:notesMasterIdLst>
    <p:notesMasterId r:id="rId2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notesMaster" Target="notesMasters/notesMaster1.xml"/><Relationship Id="rId29" Type="http://schemas.openxmlformats.org/officeDocument/2006/relationships/presProps" Target="presProps.xml"/><Relationship Id="rId30" Type="http://schemas.openxmlformats.org/officeDocument/2006/relationships/viewProps" Target="viewProps.xml"/><Relationship Id="rId31" Type="http://schemas.openxmlformats.org/officeDocument/2006/relationships/theme" Target="theme/theme1.xml"/><Relationship Id="rId3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Introduce the project title, team members, guide, department, university and academic year.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Background, brief domain overview (computer vision, CNNs, transfer learning) and why the project is needed.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Existing problem, its challenges, and who is affected. End with the central question of the case study.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Why the project was selected, the real-world need and the research and industry motivation (TrashNet, Yang and Thung, Stanford CS229).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State the main objective, then the five specific objectives. An optional SQLite history module is a bonus.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Describe the manual segregation process in the case-study scenario and why it falls short.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Our solution and how each existing limitation is addressed. The diagram shows the pipeline from dataset to evaluation.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Walk through the diagram: training pipeline on the left (dataset to saved model), real-time prediction pipeline on the right (web interface to predicted class).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Step-by-step workflow. The pipeline diagram appears on the proposed system slide.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Runtime flow from user to result, with the API request and JSON response. The user sees the result in seconds.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Languages, frameworks, libraries, model files, database and hardware. Add GPU or Colab here if you trained on one.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Authentication is out of scope for this case study; only timestamp, category and confidence are stored.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Fill in the real image counts from your class-distribution chart before presenting. The folder name is the class label.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Model architecture from input to softmax, and why CNN and transfer learning were chosen.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MobileNetV2 for speed and small size, ResNet50 as a strong baseline, EfficientNetB0 for accuracy per size. Hyper-parameters are the typical settings from the report.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Add screenshots of your notebook output (class chart, sample grid, training curves) here if you want to show them.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report describes the evaluation method but gives no measured values. Fill the table from your own run: classification_report and confusion_matrix output.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Qualitative comparison with the existing manual approach. Insert the measured accuracy once you have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Replace each placeholder with a real screenshot, or run a live demo. The 96.4% example is illustrative from the project design; use your own real result.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Benefits of the proposed system and the improvement over manual sorting, including a confidence score to flag doubtful cases.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Real-world applications and the target users and industries.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Low-confidence predictions should be checked manually. Stored history holds only timestamp, category and confidence.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Possible improvements, additional features and deployment or scaling options.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Summarise what was achieved, the key outcome and the overall contribution.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30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1809750"/>
            <a:ext cx="9810750" cy="195317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5060"/>
              </a:lnSpc>
              <a:buNone/>
            </a:pPr>
            <a:r>
              <a:rPr lang="en-US" sz="4600" b="1" dirty="0">
                <a:solidFill>
                  <a:srgbClr val="F6F5EE"/>
                </a:solidFill>
                <a:latin typeface="Domine" pitchFamily="18" charset="0"/>
                <a:ea typeface="Domine" pitchFamily="18" charset="-122"/>
                <a:cs typeface="Domine" pitchFamily="18" charset="-120"/>
              </a:rPr>
              <a:t>Waste Classification for Recycling Using CNN and Transfer Learning</a:t>
            </a:r>
            <a:endParaRPr lang="en-US" sz="4600" dirty="0"/>
          </a:p>
        </p:txBody>
      </p:sp>
      <p:sp>
        <p:nvSpPr>
          <p:cNvPr id="3" name="Shape 1"/>
          <p:cNvSpPr/>
          <p:nvPr/>
        </p:nvSpPr>
        <p:spPr>
          <a:xfrm>
            <a:off x="812800" y="4987925"/>
            <a:ext cx="10566400" cy="0"/>
          </a:xfrm>
          <a:prstGeom prst="line">
            <a:avLst/>
          </a:prstGeom>
          <a:noFill/>
          <a:ln w="6350">
            <a:solidFill>
              <a:srgbClr val="3A5A4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12800" y="5219700"/>
            <a:ext cx="2733316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00" kern="0" dirty="0">
                <a:solidFill>
                  <a:srgbClr val="7FD3A0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PRESENTED BY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812800" y="5471120"/>
            <a:ext cx="2733316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F6F5EE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Keerthana G — 2520090132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812800" y="5775920"/>
            <a:ext cx="3184446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F6F5EE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Sutte Alekhya — 2520090126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4076105" y="5219700"/>
            <a:ext cx="2142218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00" kern="0" dirty="0">
                <a:solidFill>
                  <a:srgbClr val="7FD3A0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GUIDE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076105" y="5471120"/>
            <a:ext cx="2495788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F6F5EE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Dr. Y. Lakshmi Prasanna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4076105" y="5775920"/>
            <a:ext cx="2142218" cy="2565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C9DCCF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Assistant Professor, CS-IT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6F5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6679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5060"/>
              </a:lnSpc>
              <a:buNone/>
            </a:pPr>
            <a:r>
              <a:rPr lang="en-US" sz="4600" b="1" dirty="0">
                <a:solidFill>
                  <a:srgbClr val="1E7A46"/>
                </a:solidFill>
                <a:latin typeface="Domine" pitchFamily="18" charset="0"/>
                <a:ea typeface="Domine" pitchFamily="18" charset="-122"/>
                <a:cs typeface="Domine" pitchFamily="18" charset="-120"/>
              </a:rPr>
              <a:t>Introduction</a:t>
            </a:r>
            <a:endParaRPr lang="en-US" sz="4600" dirty="0"/>
          </a:p>
        </p:txBody>
      </p:sp>
      <p:sp>
        <p:nvSpPr>
          <p:cNvPr id="3" name="Text 1"/>
          <p:cNvSpPr/>
          <p:nvPr/>
        </p:nvSpPr>
        <p:spPr>
          <a:xfrm>
            <a:off x="812800" y="1518890"/>
            <a:ext cx="10883392" cy="2844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040"/>
              </a:lnSpc>
              <a:buNone/>
            </a:pPr>
            <a:r>
              <a:rPr lang="en-US" sz="1700" b="1" dirty="0">
                <a:solidFill>
                  <a:srgbClr val="14301F"/>
                </a:solidFill>
                <a:latin typeface="Domine" pitchFamily="18" charset="0"/>
                <a:ea typeface="Domine" pitchFamily="18" charset="-122"/>
                <a:cs typeface="Domine" pitchFamily="18" charset="-120"/>
              </a:rPr>
              <a:t>Recycling only works when waste is sorted right</a:t>
            </a:r>
            <a:endParaRPr lang="en-US" sz="1700" dirty="0"/>
          </a:p>
        </p:txBody>
      </p:sp>
      <p:sp>
        <p:nvSpPr>
          <p:cNvPr id="4" name="Shape 2"/>
          <p:cNvSpPr/>
          <p:nvPr/>
        </p:nvSpPr>
        <p:spPr>
          <a:xfrm>
            <a:off x="815975" y="2035125"/>
            <a:ext cx="3384550" cy="2151162"/>
          </a:xfrm>
          <a:prstGeom prst="roundRect">
            <a:avLst>
              <a:gd name="adj" fmla="val 4575"/>
            </a:avLst>
          </a:prstGeom>
          <a:solidFill>
            <a:srgbClr val="FDFCF8"/>
          </a:solidFill>
          <a:ln w="6350">
            <a:solidFill>
              <a:srgbClr val="D8DFD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73150" y="2292300"/>
            <a:ext cx="2956306" cy="2844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040"/>
              </a:lnSpc>
              <a:buNone/>
            </a:pPr>
            <a:r>
              <a:rPr lang="en-US" sz="1700" b="1" dirty="0">
                <a:solidFill>
                  <a:srgbClr val="14301F"/>
                </a:solidFill>
                <a:latin typeface="Domine" pitchFamily="18" charset="0"/>
                <a:ea typeface="Domine" pitchFamily="18" charset="-122"/>
                <a:cs typeface="Domine" pitchFamily="18" charset="-120"/>
              </a:rPr>
              <a:t>Background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1073150" y="2640261"/>
            <a:ext cx="2956306" cy="13142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030"/>
              </a:lnSpc>
              <a:buNone/>
            </a:pPr>
            <a:r>
              <a:rPr lang="en-US" sz="1450" dirty="0">
                <a:solidFill>
                  <a:srgbClr val="46544B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Urbanisation and changing consumption have increased the volume and variety of municipal solid waste. Separation is still mostly done by hand.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4410075" y="2035125"/>
            <a:ext cx="3384550" cy="2151162"/>
          </a:xfrm>
          <a:prstGeom prst="roundRect">
            <a:avLst>
              <a:gd name="adj" fmla="val 4575"/>
            </a:avLst>
          </a:prstGeom>
          <a:solidFill>
            <a:srgbClr val="FDFCF8"/>
          </a:solidFill>
          <a:ln w="6350">
            <a:solidFill>
              <a:srgbClr val="D8DFD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667250" y="2292300"/>
            <a:ext cx="2956306" cy="2844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040"/>
              </a:lnSpc>
              <a:buNone/>
            </a:pPr>
            <a:r>
              <a:rPr lang="en-US" sz="1700" b="1" dirty="0">
                <a:solidFill>
                  <a:srgbClr val="14301F"/>
                </a:solidFill>
                <a:latin typeface="Domine" pitchFamily="18" charset="0"/>
                <a:ea typeface="Domine" pitchFamily="18" charset="-122"/>
                <a:cs typeface="Domine" pitchFamily="18" charset="-120"/>
              </a:rPr>
              <a:t>The domain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4667250" y="2640261"/>
            <a:ext cx="2956306" cy="13142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030"/>
              </a:lnSpc>
              <a:buNone/>
            </a:pPr>
            <a:r>
              <a:rPr lang="en-US" sz="1450" dirty="0">
                <a:solidFill>
                  <a:srgbClr val="46544B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Computer vision lets CNNs learn edges, shapes and textures from images. Transfer learning reuses models trained on huge image sets for small datasets.</a:t>
            </a:r>
            <a:endParaRPr lang="en-US" sz="1450" dirty="0"/>
          </a:p>
        </p:txBody>
      </p:sp>
      <p:sp>
        <p:nvSpPr>
          <p:cNvPr id="10" name="Shape 8"/>
          <p:cNvSpPr/>
          <p:nvPr/>
        </p:nvSpPr>
        <p:spPr>
          <a:xfrm>
            <a:off x="8001000" y="2031950"/>
            <a:ext cx="3378200" cy="2157512"/>
          </a:xfrm>
          <a:prstGeom prst="roundRect">
            <a:avLst>
              <a:gd name="adj" fmla="val 4709"/>
            </a:avLst>
          </a:prstGeom>
          <a:solidFill>
            <a:srgbClr val="14301F"/>
          </a:solidFill>
          <a:ln/>
        </p:spPr>
      </p:sp>
      <p:sp>
        <p:nvSpPr>
          <p:cNvPr id="11" name="Text 9"/>
          <p:cNvSpPr/>
          <p:nvPr/>
        </p:nvSpPr>
        <p:spPr>
          <a:xfrm>
            <a:off x="8255000" y="2285950"/>
            <a:ext cx="2956306" cy="2844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040"/>
              </a:lnSpc>
              <a:buNone/>
            </a:pPr>
            <a:r>
              <a:rPr lang="en-US" sz="1700" b="1" dirty="0">
                <a:solidFill>
                  <a:srgbClr val="F6F5EE"/>
                </a:solidFill>
                <a:latin typeface="Domine" pitchFamily="18" charset="0"/>
                <a:ea typeface="Domine" pitchFamily="18" charset="-122"/>
                <a:cs typeface="Domine" pitchFamily="18" charset="-120"/>
              </a:rPr>
              <a:t>Why it is needed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8255000" y="2633911"/>
            <a:ext cx="2956306" cy="13142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030"/>
              </a:lnSpc>
              <a:buNone/>
            </a:pPr>
            <a:r>
              <a:rPr lang="en-US" sz="1450" dirty="0">
                <a:solidFill>
                  <a:srgbClr val="C9DCCF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Manual sorting is slow and error-prone, so recyclable material often ends up in landfill. A one-click tool makes sorting faster and consistent.</a:t>
            </a:r>
            <a:endParaRPr lang="en-US" sz="1450" dirty="0"/>
          </a:p>
        </p:txBody>
      </p:sp>
      <p:sp>
        <p:nvSpPr>
          <p:cNvPr id="13" name="Text 11"/>
          <p:cNvSpPr/>
          <p:nvPr/>
        </p:nvSpPr>
        <p:spPr>
          <a:xfrm>
            <a:off x="812800" y="6238280"/>
            <a:ext cx="588645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C6860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Waste Classification · CNN &amp; Transfer Learning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10693400" y="6238280"/>
            <a:ext cx="6858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C6860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2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6F5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6679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5060"/>
              </a:lnSpc>
              <a:buNone/>
            </a:pPr>
            <a:r>
              <a:rPr lang="en-US" sz="4600" b="1" dirty="0">
                <a:solidFill>
                  <a:srgbClr val="1E7A46"/>
                </a:solidFill>
                <a:latin typeface="Domine" pitchFamily="18" charset="0"/>
                <a:ea typeface="Domine" pitchFamily="18" charset="-122"/>
                <a:cs typeface="Domine" pitchFamily="18" charset="-120"/>
              </a:rPr>
              <a:t>Problem statement</a:t>
            </a:r>
            <a:endParaRPr lang="en-US" sz="4600" dirty="0"/>
          </a:p>
        </p:txBody>
      </p:sp>
      <p:sp>
        <p:nvSpPr>
          <p:cNvPr id="3" name="Text 1"/>
          <p:cNvSpPr/>
          <p:nvPr/>
        </p:nvSpPr>
        <p:spPr>
          <a:xfrm>
            <a:off x="812800" y="1518890"/>
            <a:ext cx="10883392" cy="2844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040"/>
              </a:lnSpc>
              <a:buNone/>
            </a:pPr>
            <a:r>
              <a:rPr lang="en-US" sz="1700" b="1" dirty="0">
                <a:solidFill>
                  <a:srgbClr val="14301F"/>
                </a:solidFill>
                <a:latin typeface="Domine" pitchFamily="18" charset="0"/>
                <a:ea typeface="Domine" pitchFamily="18" charset="-122"/>
                <a:cs typeface="Domine" pitchFamily="18" charset="-120"/>
              </a:rPr>
              <a:t>Mixed waste is sorted by hand</a:t>
            </a:r>
            <a:endParaRPr lang="en-US" sz="1700" dirty="0"/>
          </a:p>
        </p:txBody>
      </p:sp>
      <p:sp>
        <p:nvSpPr>
          <p:cNvPr id="4" name="Shape 2"/>
          <p:cNvSpPr/>
          <p:nvPr/>
        </p:nvSpPr>
        <p:spPr>
          <a:xfrm>
            <a:off x="815975" y="2035125"/>
            <a:ext cx="3380284" cy="1926481"/>
          </a:xfrm>
          <a:prstGeom prst="roundRect">
            <a:avLst>
              <a:gd name="adj" fmla="val 5109"/>
            </a:avLst>
          </a:prstGeom>
          <a:solidFill>
            <a:srgbClr val="FDFCF8"/>
          </a:solidFill>
          <a:ln w="6350">
            <a:solidFill>
              <a:srgbClr val="D8DFD3"/>
            </a:solidFill>
            <a:prstDash val="solid"/>
          </a:ln>
        </p:spPr>
      </p:sp>
      <p:pic>
        <p:nvPicPr>
          <p:cNvPr id="5" name="Image 0" descr="Clock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047750" y="2266900"/>
            <a:ext cx="304800" cy="3048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047750" y="2647900"/>
            <a:ext cx="3004236" cy="2844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040"/>
              </a:lnSpc>
              <a:buNone/>
            </a:pPr>
            <a:r>
              <a:rPr lang="en-US" sz="1700" b="1" dirty="0">
                <a:solidFill>
                  <a:srgbClr val="14301F"/>
                </a:solidFill>
                <a:latin typeface="Domine" pitchFamily="18" charset="0"/>
                <a:ea typeface="Domine" pitchFamily="18" charset="-122"/>
                <a:cs typeface="Domine" pitchFamily="18" charset="-120"/>
              </a:rPr>
              <a:t>Slow and costly</a:t>
            </a:r>
            <a:endParaRPr lang="en-US" sz="1700" dirty="0"/>
          </a:p>
        </p:txBody>
      </p:sp>
      <p:sp>
        <p:nvSpPr>
          <p:cNvPr id="7" name="Text 4"/>
          <p:cNvSpPr/>
          <p:nvPr/>
        </p:nvSpPr>
        <p:spPr>
          <a:xfrm>
            <a:off x="1047750" y="2983161"/>
            <a:ext cx="3004236" cy="5231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46544B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Manual segregation is labour-intensive and time-consuming.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4405809" y="2035125"/>
            <a:ext cx="3380333" cy="1926481"/>
          </a:xfrm>
          <a:prstGeom prst="roundRect">
            <a:avLst>
              <a:gd name="adj" fmla="val 5109"/>
            </a:avLst>
          </a:prstGeom>
          <a:solidFill>
            <a:srgbClr val="FDFCF8"/>
          </a:solidFill>
          <a:ln w="6350">
            <a:solidFill>
              <a:srgbClr val="D8DFD3"/>
            </a:solidFill>
            <a:prstDash val="solid"/>
          </a:ln>
        </p:spPr>
      </p:sp>
      <p:pic>
        <p:nvPicPr>
          <p:cNvPr id="9" name="Image 1" descr="Warni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4637584" y="2266900"/>
            <a:ext cx="304800" cy="30480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4637584" y="2647900"/>
            <a:ext cx="3004287" cy="2844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040"/>
              </a:lnSpc>
              <a:buNone/>
            </a:pPr>
            <a:r>
              <a:rPr lang="en-US" sz="1700" b="1" dirty="0">
                <a:solidFill>
                  <a:srgbClr val="14301F"/>
                </a:solidFill>
                <a:latin typeface="Domine" pitchFamily="18" charset="0"/>
                <a:ea typeface="Domine" pitchFamily="18" charset="-122"/>
                <a:cs typeface="Domine" pitchFamily="18" charset="-120"/>
              </a:rPr>
              <a:t>Error-prone</a:t>
            </a:r>
            <a:endParaRPr lang="en-US" sz="1700" dirty="0"/>
          </a:p>
        </p:txBody>
      </p:sp>
      <p:sp>
        <p:nvSpPr>
          <p:cNvPr id="11" name="Text 7"/>
          <p:cNvSpPr/>
          <p:nvPr/>
        </p:nvSpPr>
        <p:spPr>
          <a:xfrm>
            <a:off x="4637584" y="2983161"/>
            <a:ext cx="3004287" cy="5231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46544B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Different workers decide differently about the same item.</a:t>
            </a:r>
            <a:endParaRPr lang="en-US" sz="1400" dirty="0"/>
          </a:p>
        </p:txBody>
      </p:sp>
      <p:sp>
        <p:nvSpPr>
          <p:cNvPr id="12" name="Shape 8"/>
          <p:cNvSpPr/>
          <p:nvPr/>
        </p:nvSpPr>
        <p:spPr>
          <a:xfrm>
            <a:off x="7995692" y="2035125"/>
            <a:ext cx="3380333" cy="1926481"/>
          </a:xfrm>
          <a:prstGeom prst="roundRect">
            <a:avLst>
              <a:gd name="adj" fmla="val 5109"/>
            </a:avLst>
          </a:prstGeom>
          <a:solidFill>
            <a:srgbClr val="FDFCF8"/>
          </a:solidFill>
          <a:ln w="6350">
            <a:solidFill>
              <a:srgbClr val="D8DFD3"/>
            </a:solidFill>
            <a:prstDash val="solid"/>
          </a:ln>
        </p:spPr>
      </p:sp>
      <p:pic>
        <p:nvPicPr>
          <p:cNvPr id="13" name="Image 2" descr="Search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8227467" y="2266900"/>
            <a:ext cx="304800" cy="30480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8227467" y="2647900"/>
            <a:ext cx="3004287" cy="2844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040"/>
              </a:lnSpc>
              <a:buNone/>
            </a:pPr>
            <a:r>
              <a:rPr lang="en-US" sz="1700" b="1" dirty="0">
                <a:solidFill>
                  <a:srgbClr val="14301F"/>
                </a:solidFill>
                <a:latin typeface="Domine" pitchFamily="18" charset="0"/>
                <a:ea typeface="Domine" pitchFamily="18" charset="-122"/>
                <a:cs typeface="Domine" pitchFamily="18" charset="-120"/>
              </a:rPr>
              <a:t>Lost recyclables</a:t>
            </a:r>
            <a:endParaRPr lang="en-US" sz="1700" dirty="0"/>
          </a:p>
        </p:txBody>
      </p:sp>
      <p:sp>
        <p:nvSpPr>
          <p:cNvPr id="15" name="Text 10"/>
          <p:cNvSpPr/>
          <p:nvPr/>
        </p:nvSpPr>
        <p:spPr>
          <a:xfrm>
            <a:off x="8227467" y="2983161"/>
            <a:ext cx="3004287" cy="77207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46544B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Plastic, paper, glass and metal mixed with organic waste are harder to recover.</a:t>
            </a:r>
            <a:endParaRPr lang="en-US" sz="1400" dirty="0"/>
          </a:p>
        </p:txBody>
      </p:sp>
      <p:sp>
        <p:nvSpPr>
          <p:cNvPr id="16" name="Shape 11"/>
          <p:cNvSpPr/>
          <p:nvPr/>
        </p:nvSpPr>
        <p:spPr>
          <a:xfrm>
            <a:off x="812800" y="4218781"/>
            <a:ext cx="10566400" cy="970211"/>
          </a:xfrm>
          <a:prstGeom prst="roundRect">
            <a:avLst>
              <a:gd name="adj" fmla="val 10472"/>
            </a:avLst>
          </a:prstGeom>
          <a:solidFill>
            <a:srgbClr val="14301F"/>
          </a:solidFill>
          <a:ln/>
        </p:spPr>
      </p:sp>
      <p:sp>
        <p:nvSpPr>
          <p:cNvPr id="17" name="Text 12"/>
          <p:cNvSpPr/>
          <p:nvPr/>
        </p:nvSpPr>
        <p:spPr>
          <a:xfrm>
            <a:off x="1092200" y="4447381"/>
            <a:ext cx="10307828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00" kern="0" dirty="0">
                <a:solidFill>
                  <a:srgbClr val="7FD3A0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WHO IS AFFECTED</a:t>
            </a:r>
            <a:endParaRPr lang="en-US" sz="1200" dirty="0"/>
          </a:p>
        </p:txBody>
      </p:sp>
      <p:sp>
        <p:nvSpPr>
          <p:cNvPr id="18" name="Text 13"/>
          <p:cNvSpPr/>
          <p:nvPr/>
        </p:nvSpPr>
        <p:spPr>
          <a:xfrm>
            <a:off x="1092200" y="4711502"/>
            <a:ext cx="10307828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F6F5EE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Residential communities, recycling centres and their workers, municipal bodies and the environment.</a:t>
            </a:r>
            <a:endParaRPr lang="en-US" sz="1400" dirty="0"/>
          </a:p>
        </p:txBody>
      </p:sp>
      <p:sp>
        <p:nvSpPr>
          <p:cNvPr id="19" name="Text 14"/>
          <p:cNvSpPr/>
          <p:nvPr/>
        </p:nvSpPr>
        <p:spPr>
          <a:xfrm>
            <a:off x="812800" y="6238280"/>
            <a:ext cx="588645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C6860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Waste Classification · CNN &amp; Transfer Learning</a:t>
            </a:r>
            <a:endParaRPr lang="en-US" sz="1200" dirty="0"/>
          </a:p>
        </p:txBody>
      </p:sp>
      <p:sp>
        <p:nvSpPr>
          <p:cNvPr id="20" name="Text 15"/>
          <p:cNvSpPr/>
          <p:nvPr/>
        </p:nvSpPr>
        <p:spPr>
          <a:xfrm>
            <a:off x="10693400" y="6238280"/>
            <a:ext cx="6858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C6860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3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6F5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6679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5060"/>
              </a:lnSpc>
              <a:buNone/>
            </a:pPr>
            <a:r>
              <a:rPr lang="en-US" sz="4600" b="1" dirty="0">
                <a:solidFill>
                  <a:srgbClr val="1E7A46"/>
                </a:solidFill>
                <a:latin typeface="Domine" pitchFamily="18" charset="0"/>
                <a:ea typeface="Domine" pitchFamily="18" charset="-122"/>
                <a:cs typeface="Domine" pitchFamily="18" charset="-120"/>
              </a:rPr>
              <a:t>Motivation</a:t>
            </a:r>
            <a:endParaRPr lang="en-US" sz="4600" dirty="0"/>
          </a:p>
        </p:txBody>
      </p:sp>
      <p:sp>
        <p:nvSpPr>
          <p:cNvPr id="3" name="Text 1"/>
          <p:cNvSpPr/>
          <p:nvPr/>
        </p:nvSpPr>
        <p:spPr>
          <a:xfrm>
            <a:off x="812800" y="1518890"/>
            <a:ext cx="10883392" cy="2844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040"/>
              </a:lnSpc>
              <a:buNone/>
            </a:pPr>
            <a:r>
              <a:rPr lang="en-US" sz="1700" b="1" dirty="0">
                <a:solidFill>
                  <a:srgbClr val="14301F"/>
                </a:solidFill>
                <a:latin typeface="Domine" pitchFamily="18" charset="0"/>
                <a:ea typeface="Domine" pitchFamily="18" charset="-122"/>
                <a:cs typeface="Domine" pitchFamily="18" charset="-120"/>
              </a:rPr>
              <a:t>Why we chose this project</a:t>
            </a:r>
            <a:endParaRPr lang="en-US" sz="1700" dirty="0"/>
          </a:p>
        </p:txBody>
      </p:sp>
      <p:sp>
        <p:nvSpPr>
          <p:cNvPr id="4" name="Shape 2"/>
          <p:cNvSpPr/>
          <p:nvPr/>
        </p:nvSpPr>
        <p:spPr>
          <a:xfrm>
            <a:off x="812800" y="2051000"/>
            <a:ext cx="3386634" cy="0"/>
          </a:xfrm>
          <a:prstGeom prst="line">
            <a:avLst/>
          </a:prstGeom>
          <a:noFill/>
          <a:ln w="38100">
            <a:solidFill>
              <a:srgbClr val="1E7A4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12800" y="2247850"/>
            <a:ext cx="3435909" cy="2996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14301F"/>
                </a:solidFill>
                <a:latin typeface="Domine" pitchFamily="18" charset="0"/>
                <a:ea typeface="Domine" pitchFamily="18" charset="-122"/>
                <a:cs typeface="Domine" pitchFamily="18" charset="-120"/>
              </a:rPr>
              <a:t>Our reason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812800" y="2611041"/>
            <a:ext cx="3435909" cy="10564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030"/>
              </a:lnSpc>
              <a:buNone/>
            </a:pPr>
            <a:r>
              <a:rPr lang="en-US" sz="1450" dirty="0">
                <a:solidFill>
                  <a:srgbClr val="46544B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It covers the full path from data to a usable app: a deep learning model, a REST API and a web front end, solving a visible everyday problem.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4402634" y="2051000"/>
            <a:ext cx="3386683" cy="0"/>
          </a:xfrm>
          <a:prstGeom prst="line">
            <a:avLst/>
          </a:prstGeom>
          <a:noFill/>
          <a:ln w="38100">
            <a:solidFill>
              <a:srgbClr val="1E7A4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402634" y="2247850"/>
            <a:ext cx="3435960" cy="2996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14301F"/>
                </a:solidFill>
                <a:latin typeface="Domine" pitchFamily="18" charset="0"/>
                <a:ea typeface="Domine" pitchFamily="18" charset="-122"/>
                <a:cs typeface="Domine" pitchFamily="18" charset="-120"/>
              </a:rPr>
              <a:t>Real-world need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4402634" y="2611041"/>
            <a:ext cx="3435960" cy="79871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030"/>
              </a:lnSpc>
              <a:buNone/>
            </a:pPr>
            <a:r>
              <a:rPr lang="en-US" sz="1450" dirty="0">
                <a:solidFill>
                  <a:srgbClr val="46544B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A low-cost tool anyone can use from a phone or computer: photograph an item and be told what type of waste it is.</a:t>
            </a:r>
            <a:endParaRPr lang="en-US" sz="1450" dirty="0"/>
          </a:p>
        </p:txBody>
      </p:sp>
      <p:sp>
        <p:nvSpPr>
          <p:cNvPr id="10" name="Shape 8"/>
          <p:cNvSpPr/>
          <p:nvPr/>
        </p:nvSpPr>
        <p:spPr>
          <a:xfrm>
            <a:off x="7992517" y="2051000"/>
            <a:ext cx="3386683" cy="0"/>
          </a:xfrm>
          <a:prstGeom prst="line">
            <a:avLst/>
          </a:prstGeom>
          <a:noFill/>
          <a:ln w="38100">
            <a:solidFill>
              <a:srgbClr val="1E7A4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992517" y="2247850"/>
            <a:ext cx="3435960" cy="2996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14301F"/>
                </a:solidFill>
                <a:latin typeface="Domine" pitchFamily="18" charset="0"/>
                <a:ea typeface="Domine" pitchFamily="18" charset="-122"/>
                <a:cs typeface="Domine" pitchFamily="18" charset="-120"/>
              </a:rPr>
              <a:t>Research motivation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7992517" y="2611041"/>
            <a:ext cx="3435960" cy="10564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030"/>
              </a:lnSpc>
              <a:buNone/>
            </a:pPr>
            <a:r>
              <a:rPr lang="en-US" sz="1450" dirty="0">
                <a:solidFill>
                  <a:srgbClr val="46544B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TrashNet-style datasets made waste-image classification a known benchmark, and light pre-trained networks make deployment practical.</a:t>
            </a:r>
            <a:endParaRPr lang="en-US" sz="1450" dirty="0"/>
          </a:p>
        </p:txBody>
      </p:sp>
      <p:sp>
        <p:nvSpPr>
          <p:cNvPr id="13" name="Text 11"/>
          <p:cNvSpPr/>
          <p:nvPr/>
        </p:nvSpPr>
        <p:spPr>
          <a:xfrm>
            <a:off x="812800" y="6238280"/>
            <a:ext cx="588645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C6860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Waste Classification · CNN &amp; Transfer Learning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10693400" y="6238280"/>
            <a:ext cx="6858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C6860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4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6F5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6679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5060"/>
              </a:lnSpc>
              <a:buNone/>
            </a:pPr>
            <a:r>
              <a:rPr lang="en-US" sz="4600" b="1" dirty="0">
                <a:solidFill>
                  <a:srgbClr val="1E7A46"/>
                </a:solidFill>
                <a:latin typeface="Domine" pitchFamily="18" charset="0"/>
                <a:ea typeface="Domine" pitchFamily="18" charset="-122"/>
                <a:cs typeface="Domine" pitchFamily="18" charset="-120"/>
              </a:rPr>
              <a:t>Objectives</a:t>
            </a:r>
            <a:endParaRPr lang="en-US" sz="4600" dirty="0"/>
          </a:p>
        </p:txBody>
      </p:sp>
      <p:sp>
        <p:nvSpPr>
          <p:cNvPr id="3" name="Text 1"/>
          <p:cNvSpPr/>
          <p:nvPr/>
        </p:nvSpPr>
        <p:spPr>
          <a:xfrm>
            <a:off x="812800" y="1518890"/>
            <a:ext cx="10883392" cy="2844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040"/>
              </a:lnSpc>
              <a:buNone/>
            </a:pPr>
            <a:r>
              <a:rPr lang="en-US" sz="1700" b="1" dirty="0">
                <a:solidFill>
                  <a:srgbClr val="14301F"/>
                </a:solidFill>
                <a:latin typeface="Domine" pitchFamily="18" charset="0"/>
                <a:ea typeface="Domine" pitchFamily="18" charset="-122"/>
                <a:cs typeface="Domine" pitchFamily="18" charset="-120"/>
              </a:rPr>
              <a:t>What the project sets out to do</a:t>
            </a:r>
            <a:endParaRPr lang="en-US" sz="1700" dirty="0"/>
          </a:p>
        </p:txBody>
      </p:sp>
      <p:sp>
        <p:nvSpPr>
          <p:cNvPr id="4" name="Text 2"/>
          <p:cNvSpPr/>
          <p:nvPr/>
        </p:nvSpPr>
        <p:spPr>
          <a:xfrm>
            <a:off x="812800" y="1981150"/>
            <a:ext cx="10566400" cy="906760"/>
          </a:xfrm>
          <a:prstGeom prst="roundRect">
            <a:avLst>
              <a:gd name="adj" fmla="val 11205"/>
            </a:avLst>
          </a:prstGeom>
          <a:solidFill>
            <a:srgbClr val="14301F"/>
          </a:solidFill>
          <a:ln/>
        </p:spPr>
        <p:txBody>
          <a:bodyPr wrap="square" lIns="224242" tIns="148042" rIns="0" bIns="122642" rtlCol="0" anchor="t">
            <a:normAutofit/>
          </a:bodyPr>
          <a:lstStyle/>
          <a:p>
            <a:pPr algn="l" indent="0" marL="0">
              <a:lnSpc>
                <a:spcPts val="2170"/>
              </a:lnSpc>
              <a:buNone/>
            </a:pPr>
            <a:r>
              <a:rPr lang="en-US" sz="1550" b="1" dirty="0">
                <a:solidFill>
                  <a:srgbClr val="F6F5EE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Main objective: identify the category of a waste item from a single photograph using a CNN with transfer learning, served through a web app.</a:t>
            </a:r>
            <a:endParaRPr lang="en-US" sz="1550" dirty="0"/>
          </a:p>
        </p:txBody>
      </p:sp>
      <p:sp>
        <p:nvSpPr>
          <p:cNvPr id="5" name="Shape 3"/>
          <p:cNvSpPr/>
          <p:nvPr/>
        </p:nvSpPr>
        <p:spPr>
          <a:xfrm>
            <a:off x="815975" y="3094286"/>
            <a:ext cx="10560050" cy="450850"/>
          </a:xfrm>
          <a:prstGeom prst="roundRect">
            <a:avLst>
              <a:gd name="adj" fmla="val 16197"/>
            </a:avLst>
          </a:prstGeom>
          <a:solidFill>
            <a:srgbClr val="FDFCF8"/>
          </a:solidFill>
          <a:ln w="6350">
            <a:solidFill>
              <a:srgbClr val="D8DFD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96950" y="3186361"/>
            <a:ext cx="304800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1E7A46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1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403350" y="3195241"/>
            <a:ext cx="6437948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1B2A22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Build a data pipeline for 7 classes: resize, normalise, augment, split.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815975" y="3627686"/>
            <a:ext cx="10560050" cy="450850"/>
          </a:xfrm>
          <a:prstGeom prst="roundRect">
            <a:avLst>
              <a:gd name="adj" fmla="val 16197"/>
            </a:avLst>
          </a:prstGeom>
          <a:solidFill>
            <a:srgbClr val="FDFCF8"/>
          </a:solidFill>
          <a:ln w="6350">
            <a:solidFill>
              <a:srgbClr val="D8DFD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96950" y="3719761"/>
            <a:ext cx="304800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1E7A46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2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1403350" y="3728641"/>
            <a:ext cx="6054864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1B2A22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Train and compare MobileNetV2, ResNet50 and EfficientNetB0.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815975" y="4161086"/>
            <a:ext cx="10560050" cy="450850"/>
          </a:xfrm>
          <a:prstGeom prst="roundRect">
            <a:avLst>
              <a:gd name="adj" fmla="val 16197"/>
            </a:avLst>
          </a:prstGeom>
          <a:solidFill>
            <a:srgbClr val="FDFCF8"/>
          </a:solidFill>
          <a:ln w="6350">
            <a:solidFill>
              <a:srgbClr val="D8DFD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96950" y="4253161"/>
            <a:ext cx="304800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1E7A46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3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1403350" y="4262041"/>
            <a:ext cx="6811863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1B2A22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Evaluate with accuracy, precision, recall, F1-score and confusion matrix.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815975" y="4694486"/>
            <a:ext cx="10560050" cy="450850"/>
          </a:xfrm>
          <a:prstGeom prst="roundRect">
            <a:avLst>
              <a:gd name="adj" fmla="val 16197"/>
            </a:avLst>
          </a:prstGeom>
          <a:solidFill>
            <a:srgbClr val="FDFCF8"/>
          </a:solidFill>
          <a:ln w="6350">
            <a:solidFill>
              <a:srgbClr val="D8DFD3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96950" y="4786561"/>
            <a:ext cx="304800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1E7A46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4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1403350" y="4795441"/>
            <a:ext cx="5927527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1B2A22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Expose the trained model through a Flask REST API (/predict).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815975" y="5227886"/>
            <a:ext cx="10560050" cy="450850"/>
          </a:xfrm>
          <a:prstGeom prst="roundRect">
            <a:avLst>
              <a:gd name="adj" fmla="val 16197"/>
            </a:avLst>
          </a:prstGeom>
          <a:solidFill>
            <a:srgbClr val="FDFCF8"/>
          </a:solidFill>
          <a:ln w="6350">
            <a:solidFill>
              <a:srgbClr val="D8DFD3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96950" y="5319961"/>
            <a:ext cx="304800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1E7A46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5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1403350" y="5328841"/>
            <a:ext cx="6792992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1B2A22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Build a web UI that uploads, previews and shows class and confidence.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812800" y="6238280"/>
            <a:ext cx="588645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C6860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Waste Classification · CNN &amp; Transfer Learning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10693400" y="6238280"/>
            <a:ext cx="6858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C6860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5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6F5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6679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5060"/>
              </a:lnSpc>
              <a:buNone/>
            </a:pPr>
            <a:r>
              <a:rPr lang="en-US" sz="4600" b="1" dirty="0">
                <a:solidFill>
                  <a:srgbClr val="1E7A46"/>
                </a:solidFill>
                <a:latin typeface="Domine" pitchFamily="18" charset="0"/>
                <a:ea typeface="Domine" pitchFamily="18" charset="-122"/>
                <a:cs typeface="Domine" pitchFamily="18" charset="-120"/>
              </a:rPr>
              <a:t>Existing system</a:t>
            </a:r>
            <a:endParaRPr lang="en-US" sz="4600" dirty="0"/>
          </a:p>
        </p:txBody>
      </p:sp>
      <p:sp>
        <p:nvSpPr>
          <p:cNvPr id="3" name="Shape 1"/>
          <p:cNvSpPr/>
          <p:nvPr/>
        </p:nvSpPr>
        <p:spPr>
          <a:xfrm>
            <a:off x="815975" y="1712565"/>
            <a:ext cx="3384550" cy="2342952"/>
          </a:xfrm>
          <a:prstGeom prst="roundRect">
            <a:avLst>
              <a:gd name="adj" fmla="val 4201"/>
            </a:avLst>
          </a:prstGeom>
          <a:solidFill>
            <a:srgbClr val="FDFCF8"/>
          </a:solidFill>
          <a:ln w="6350">
            <a:solidFill>
              <a:srgbClr val="D8DFD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73150" y="1969740"/>
            <a:ext cx="2956306" cy="2844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040"/>
              </a:lnSpc>
              <a:buNone/>
            </a:pPr>
            <a:r>
              <a:rPr lang="en-US" sz="1700" b="1" dirty="0">
                <a:solidFill>
                  <a:srgbClr val="14301F"/>
                </a:solidFill>
                <a:latin typeface="Domine" pitchFamily="18" charset="0"/>
                <a:ea typeface="Domine" pitchFamily="18" charset="-122"/>
                <a:cs typeface="Domine" pitchFamily="18" charset="-120"/>
              </a:rPr>
              <a:t>Current approach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1073150" y="2317700"/>
            <a:ext cx="2956306" cy="10564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030"/>
              </a:lnSpc>
              <a:buNone/>
            </a:pPr>
            <a:r>
              <a:rPr lang="en-US" sz="1450" dirty="0">
                <a:solidFill>
                  <a:srgbClr val="46544B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Workers recognise the material of every item and place it in the right bin, at the source or at the sorting facility.</a:t>
            </a:r>
            <a:endParaRPr lang="en-US" sz="1450" dirty="0"/>
          </a:p>
        </p:txBody>
      </p:sp>
      <p:sp>
        <p:nvSpPr>
          <p:cNvPr id="6" name="Shape 4"/>
          <p:cNvSpPr/>
          <p:nvPr/>
        </p:nvSpPr>
        <p:spPr>
          <a:xfrm>
            <a:off x="4410075" y="1712565"/>
            <a:ext cx="3384550" cy="2342952"/>
          </a:xfrm>
          <a:prstGeom prst="roundRect">
            <a:avLst>
              <a:gd name="adj" fmla="val 4201"/>
            </a:avLst>
          </a:prstGeom>
          <a:solidFill>
            <a:srgbClr val="FDFCF8"/>
          </a:solidFill>
          <a:ln w="6350">
            <a:solidFill>
              <a:srgbClr val="D8DFD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667250" y="1969740"/>
            <a:ext cx="2956306" cy="2844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040"/>
              </a:lnSpc>
              <a:buNone/>
            </a:pPr>
            <a:r>
              <a:rPr lang="en-US" sz="1700" b="1" dirty="0">
                <a:solidFill>
                  <a:srgbClr val="14301F"/>
                </a:solidFill>
                <a:latin typeface="Domine" pitchFamily="18" charset="0"/>
                <a:ea typeface="Domine" pitchFamily="18" charset="-122"/>
                <a:cs typeface="Domine" pitchFamily="18" charset="-120"/>
              </a:rPr>
              <a:t>Technologies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4667250" y="2317700"/>
            <a:ext cx="2956306" cy="10564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030"/>
              </a:lnSpc>
              <a:buNone/>
            </a:pPr>
            <a:r>
              <a:rPr lang="en-US" sz="1450" dirty="0">
                <a:solidFill>
                  <a:srgbClr val="46544B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Almost none in small communities and recycling centres. Automated sorting exists only in large industrial plants and is costly.</a:t>
            </a:r>
            <a:endParaRPr lang="en-US" sz="1450" dirty="0"/>
          </a:p>
        </p:txBody>
      </p:sp>
      <p:sp>
        <p:nvSpPr>
          <p:cNvPr id="9" name="Shape 7"/>
          <p:cNvSpPr/>
          <p:nvPr/>
        </p:nvSpPr>
        <p:spPr>
          <a:xfrm>
            <a:off x="8001000" y="1709390"/>
            <a:ext cx="3378200" cy="2349302"/>
          </a:xfrm>
          <a:prstGeom prst="roundRect">
            <a:avLst>
              <a:gd name="adj" fmla="val 4325"/>
            </a:avLst>
          </a:prstGeom>
          <a:solidFill>
            <a:srgbClr val="14301F"/>
          </a:solidFill>
          <a:ln/>
        </p:spPr>
      </p:sp>
      <p:sp>
        <p:nvSpPr>
          <p:cNvPr id="10" name="Text 8"/>
          <p:cNvSpPr/>
          <p:nvPr/>
        </p:nvSpPr>
        <p:spPr>
          <a:xfrm>
            <a:off x="8255000" y="1963390"/>
            <a:ext cx="2956306" cy="2844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040"/>
              </a:lnSpc>
              <a:buNone/>
            </a:pPr>
            <a:r>
              <a:rPr lang="en-US" sz="1700" b="1" dirty="0">
                <a:solidFill>
                  <a:srgbClr val="F6F5EE"/>
                </a:solidFill>
                <a:latin typeface="Domine" pitchFamily="18" charset="0"/>
                <a:ea typeface="Domine" pitchFamily="18" charset="-122"/>
                <a:cs typeface="Domine" pitchFamily="18" charset="-120"/>
              </a:rPr>
              <a:t>Limitations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8263382" y="2311350"/>
            <a:ext cx="2942590" cy="15187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169418" indent="-169418">
              <a:lnSpc>
                <a:spcPts val="1960"/>
              </a:lnSpc>
              <a:buSzPct val="100000"/>
              <a:buChar char="•"/>
            </a:pPr>
            <a:r>
              <a:rPr lang="en-US" sz="1400" dirty="0">
                <a:solidFill>
                  <a:srgbClr val="C9DCCF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Slow and labour-intensive</a:t>
            </a:r>
            <a:endParaRPr lang="en-US" sz="1400" dirty="0"/>
          </a:p>
          <a:p>
            <a:pPr algn="l" marL="169418" indent="-169418">
              <a:lnSpc>
                <a:spcPts val="1960"/>
              </a:lnSpc>
              <a:buSzPct val="100000"/>
              <a:buChar char="•"/>
            </a:pPr>
            <a:r>
              <a:rPr lang="en-US" sz="1400" dirty="0">
                <a:solidFill>
                  <a:srgbClr val="C9DCCF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Inconsistent decisions</a:t>
            </a:r>
            <a:endParaRPr lang="en-US" sz="1400" dirty="0"/>
          </a:p>
          <a:p>
            <a:pPr algn="l" marL="169418" indent="-169418">
              <a:lnSpc>
                <a:spcPts val="1960"/>
              </a:lnSpc>
              <a:buSzPct val="100000"/>
              <a:buChar char="•"/>
            </a:pPr>
            <a:r>
              <a:rPr lang="en-US" sz="1400" dirty="0">
                <a:solidFill>
                  <a:srgbClr val="C9DCCF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Contaminated recyclables go to landfill</a:t>
            </a:r>
            <a:endParaRPr lang="en-US" sz="1400" dirty="0"/>
          </a:p>
          <a:p>
            <a:pPr algn="l" marL="169418" indent="-169418">
              <a:lnSpc>
                <a:spcPts val="1960"/>
              </a:lnSpc>
              <a:buSzPct val="100000"/>
              <a:buChar char="•"/>
            </a:pPr>
            <a:r>
              <a:rPr lang="en-US" sz="1400" dirty="0">
                <a:solidFill>
                  <a:srgbClr val="C9DCCF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No easy way for the public to check an item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812800" y="6238280"/>
            <a:ext cx="588645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C6860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Waste Classification · CNN &amp; Transfer Learning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10693400" y="6238280"/>
            <a:ext cx="6858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C6860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6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6F5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6679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5060"/>
              </a:lnSpc>
              <a:buNone/>
            </a:pPr>
            <a:r>
              <a:rPr lang="en-US" sz="4600" b="1" dirty="0">
                <a:solidFill>
                  <a:srgbClr val="1E7A46"/>
                </a:solidFill>
                <a:latin typeface="Domine" pitchFamily="18" charset="0"/>
                <a:ea typeface="Domine" pitchFamily="18" charset="-122"/>
                <a:cs typeface="Domine" pitchFamily="18" charset="-120"/>
              </a:rPr>
              <a:t>Proposed system</a:t>
            </a:r>
            <a:endParaRPr lang="en-US" sz="4600" dirty="0"/>
          </a:p>
        </p:txBody>
      </p:sp>
      <p:sp>
        <p:nvSpPr>
          <p:cNvPr id="3" name="Text 1"/>
          <p:cNvSpPr/>
          <p:nvPr/>
        </p:nvSpPr>
        <p:spPr>
          <a:xfrm>
            <a:off x="812800" y="2143175"/>
            <a:ext cx="4316730" cy="79871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030"/>
              </a:lnSpc>
              <a:buNone/>
            </a:pPr>
            <a:r>
              <a:rPr lang="en-US" sz="1450" dirty="0">
                <a:solidFill>
                  <a:srgbClr val="46544B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Upload a photo. A Flask API preprocesses it and a transfer-learning CNN returns the class and a confidence score.</a:t>
            </a:r>
            <a:endParaRPr lang="en-US" sz="1450" dirty="0"/>
          </a:p>
        </p:txBody>
      </p:sp>
      <p:sp>
        <p:nvSpPr>
          <p:cNvPr id="4" name="Shape 2"/>
          <p:cNvSpPr/>
          <p:nvPr/>
        </p:nvSpPr>
        <p:spPr>
          <a:xfrm>
            <a:off x="815975" y="3046661"/>
            <a:ext cx="4184650" cy="1515070"/>
          </a:xfrm>
          <a:prstGeom prst="roundRect">
            <a:avLst>
              <a:gd name="adj" fmla="val 6496"/>
            </a:avLst>
          </a:prstGeom>
          <a:solidFill>
            <a:srgbClr val="FDFCF8"/>
          </a:solidFill>
          <a:ln w="6350">
            <a:solidFill>
              <a:srgbClr val="D8DFD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22350" y="3227636"/>
            <a:ext cx="3885057" cy="2565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b="1" dirty="0">
                <a:solidFill>
                  <a:srgbClr val="1B2A22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Slow, costly</a:t>
            </a:r>
            <a:r>
              <a:rPr lang="en-US" sz="1300" dirty="0">
                <a:solidFill>
                  <a:srgbClr val="1B2A22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 → prediction in seconds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1022350" y="3534966"/>
            <a:ext cx="3885057" cy="2565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b="1" dirty="0">
                <a:solidFill>
                  <a:srgbClr val="1B2A22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Inconsistent</a:t>
            </a:r>
            <a:r>
              <a:rPr lang="en-US" sz="1300" dirty="0">
                <a:solidFill>
                  <a:srgbClr val="1B2A22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 → one model, one standard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1022350" y="3842296"/>
            <a:ext cx="3885057" cy="2565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b="1" dirty="0">
                <a:solidFill>
                  <a:srgbClr val="1B2A22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Lost recyclables</a:t>
            </a:r>
            <a:r>
              <a:rPr lang="en-US" sz="1300" dirty="0">
                <a:solidFill>
                  <a:srgbClr val="1B2A22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 → faster identification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022350" y="4149626"/>
            <a:ext cx="3885057" cy="2565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b="1" dirty="0">
                <a:solidFill>
                  <a:srgbClr val="1B2A22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Hard to access</a:t>
            </a:r>
            <a:r>
              <a:rPr lang="en-US" sz="1300" dirty="0">
                <a:solidFill>
                  <a:srgbClr val="1B2A22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 → works in any browser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5257800" y="1683990"/>
            <a:ext cx="6121400" cy="3340100"/>
          </a:xfrm>
          <a:prstGeom prst="roundRect">
            <a:avLst>
              <a:gd name="adj" fmla="val 3042"/>
            </a:avLst>
          </a:prstGeom>
          <a:solidFill>
            <a:srgbClr val="FDFCF8"/>
          </a:solidFill>
          <a:ln/>
        </p:spPr>
      </p:sp>
      <p:pic>
        <p:nvPicPr>
          <p:cNvPr id="10" name="Image 0" descr="Proposed system pipeline: dataset, preprocessing, augmentation, transfer learning, feature extraction, classification, prediction, evaluation">    </p:cNvPr>
          <p:cNvPicPr>
            <a:picLocks noChangeAspect="1"/>
          </p:cNvPicPr>
          <p:nvPr/>
        </p:nvPicPr>
        <p:blipFill>
          <a:blip r:embed="rId1"/>
          <a:srcRect l="-110" r="-110" t="0" b="0"/>
          <a:stretch/>
        </p:blipFill>
        <p:spPr>
          <a:xfrm>
            <a:off x="5264150" y="1690340"/>
            <a:ext cx="6108700" cy="3327400"/>
          </a:xfrm>
          <a:prstGeom prst="roundRect">
            <a:avLst>
              <a:gd name="adj" fmla="val 2863"/>
            </a:avLst>
          </a:prstGeom>
        </p:spPr>
      </p:pic>
      <p:sp>
        <p:nvSpPr>
          <p:cNvPr id="11" name="Shape 8"/>
          <p:cNvSpPr/>
          <p:nvPr/>
        </p:nvSpPr>
        <p:spPr>
          <a:xfrm>
            <a:off x="5260975" y="1687165"/>
            <a:ext cx="6115050" cy="3333750"/>
          </a:xfrm>
          <a:prstGeom prst="roundRect">
            <a:avLst>
              <a:gd name="adj" fmla="val 2952"/>
            </a:avLst>
          </a:prstGeom>
          <a:noFill/>
          <a:ln w="6350">
            <a:solidFill>
              <a:srgbClr val="D8DFD3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812800" y="6238280"/>
            <a:ext cx="588645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C6860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Waste Classification · CNN &amp; Transfer Learning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10693400" y="6238280"/>
            <a:ext cx="6858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C6860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7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6F5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823200" y="609600"/>
            <a:ext cx="3556000" cy="5334000"/>
          </a:xfrm>
          <a:prstGeom prst="roundRect">
            <a:avLst>
              <a:gd name="adj" fmla="val 2857"/>
            </a:avLst>
          </a:prstGeom>
          <a:solidFill>
            <a:srgbClr val="FDFCF8"/>
          </a:solidFill>
          <a:ln/>
        </p:spPr>
      </p:sp>
      <p:pic>
        <p:nvPicPr>
          <p:cNvPr id="3" name="Image 0" descr="System architecture: training pipeline on the left, real-time prediction pipeline on the right">    </p:cNvPr>
          <p:cNvPicPr>
            <a:picLocks noChangeAspect="1"/>
          </p:cNvPicPr>
          <p:nvPr/>
        </p:nvPicPr>
        <p:blipFill>
          <a:blip r:embed="rId1"/>
          <a:srcRect l="0" r="0" t="-60" b="-60"/>
          <a:stretch/>
        </p:blipFill>
        <p:spPr>
          <a:xfrm>
            <a:off x="7829550" y="615950"/>
            <a:ext cx="3543300" cy="5321300"/>
          </a:xfrm>
          <a:prstGeom prst="roundRect">
            <a:avLst>
              <a:gd name="adj" fmla="val 2688"/>
            </a:avLst>
          </a:prstGeom>
        </p:spPr>
      </p:pic>
      <p:sp>
        <p:nvSpPr>
          <p:cNvPr id="4" name="Shape 1"/>
          <p:cNvSpPr/>
          <p:nvPr/>
        </p:nvSpPr>
        <p:spPr>
          <a:xfrm>
            <a:off x="7826375" y="612775"/>
            <a:ext cx="3549650" cy="5327650"/>
          </a:xfrm>
          <a:prstGeom prst="roundRect">
            <a:avLst>
              <a:gd name="adj" fmla="val 2773"/>
            </a:avLst>
          </a:prstGeom>
          <a:noFill/>
          <a:ln w="6350">
            <a:solidFill>
              <a:srgbClr val="D8DFD3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812800" y="812800"/>
            <a:ext cx="6540500" cy="6679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5060"/>
              </a:lnSpc>
              <a:buNone/>
            </a:pPr>
            <a:r>
              <a:rPr lang="en-US" sz="4600" b="1" dirty="0">
                <a:solidFill>
                  <a:srgbClr val="1E7A46"/>
                </a:solidFill>
                <a:latin typeface="Domine" pitchFamily="18" charset="0"/>
                <a:ea typeface="Domine" pitchFamily="18" charset="-122"/>
                <a:cs typeface="Domine" pitchFamily="18" charset="-120"/>
              </a:rPr>
              <a:t>System architecture</a:t>
            </a:r>
            <a:endParaRPr lang="en-US" sz="4600" dirty="0"/>
          </a:p>
        </p:txBody>
      </p:sp>
      <p:sp>
        <p:nvSpPr>
          <p:cNvPr id="6" name="Shape 3"/>
          <p:cNvSpPr/>
          <p:nvPr/>
        </p:nvSpPr>
        <p:spPr>
          <a:xfrm>
            <a:off x="815975" y="1661765"/>
            <a:ext cx="6343650" cy="713680"/>
          </a:xfrm>
          <a:prstGeom prst="roundRect">
            <a:avLst>
              <a:gd name="adj" fmla="val 12012"/>
            </a:avLst>
          </a:prstGeom>
          <a:solidFill>
            <a:srgbClr val="FDFCF8"/>
          </a:solidFill>
          <a:ln w="6350">
            <a:solidFill>
              <a:srgbClr val="D8DFD3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996950" y="1779240"/>
            <a:ext cx="6161151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00" kern="0" dirty="0">
                <a:solidFill>
                  <a:srgbClr val="1E7A46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INPUT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996950" y="2017961"/>
            <a:ext cx="6161151" cy="26541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90"/>
              </a:lnSpc>
              <a:buNone/>
            </a:pPr>
            <a:r>
              <a:rPr lang="en-US" sz="1350" dirty="0">
                <a:solidFill>
                  <a:srgbClr val="1B2A22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Photo of one waste item uploaded in the browser</a:t>
            </a:r>
            <a:endParaRPr lang="en-US" sz="1350" dirty="0"/>
          </a:p>
        </p:txBody>
      </p:sp>
      <p:sp>
        <p:nvSpPr>
          <p:cNvPr id="9" name="Shape 6"/>
          <p:cNvSpPr/>
          <p:nvPr/>
        </p:nvSpPr>
        <p:spPr>
          <a:xfrm>
            <a:off x="815975" y="2470696"/>
            <a:ext cx="6343650" cy="713680"/>
          </a:xfrm>
          <a:prstGeom prst="roundRect">
            <a:avLst>
              <a:gd name="adj" fmla="val 12012"/>
            </a:avLst>
          </a:prstGeom>
          <a:solidFill>
            <a:srgbClr val="FDFCF8"/>
          </a:solidFill>
          <a:ln w="6350">
            <a:solidFill>
              <a:srgbClr val="D8DFD3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996950" y="2588171"/>
            <a:ext cx="6161151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00" kern="0" dirty="0">
                <a:solidFill>
                  <a:srgbClr val="1E7A46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PROCESSING / MODULES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996950" y="2826891"/>
            <a:ext cx="6161151" cy="26541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90"/>
              </a:lnSpc>
              <a:buNone/>
            </a:pPr>
            <a:r>
              <a:rPr lang="en-US" sz="1350" dirty="0">
                <a:solidFill>
                  <a:srgbClr val="1B2A22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Resize 224×224, RGB, normalise → Flask API → optional SQLite log</a:t>
            </a:r>
            <a:endParaRPr lang="en-US" sz="1350" dirty="0"/>
          </a:p>
        </p:txBody>
      </p:sp>
      <p:sp>
        <p:nvSpPr>
          <p:cNvPr id="12" name="Shape 9"/>
          <p:cNvSpPr/>
          <p:nvPr/>
        </p:nvSpPr>
        <p:spPr>
          <a:xfrm>
            <a:off x="815975" y="3279626"/>
            <a:ext cx="6343650" cy="713680"/>
          </a:xfrm>
          <a:prstGeom prst="roundRect">
            <a:avLst>
              <a:gd name="adj" fmla="val 12012"/>
            </a:avLst>
          </a:prstGeom>
          <a:solidFill>
            <a:srgbClr val="FDFCF8"/>
          </a:solidFill>
          <a:ln w="6350">
            <a:solidFill>
              <a:srgbClr val="D8DFD3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996950" y="3397101"/>
            <a:ext cx="6161151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00" kern="0" dirty="0">
                <a:solidFill>
                  <a:srgbClr val="1E7A46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ALGORITHMS / MODELS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996950" y="3635821"/>
            <a:ext cx="6161151" cy="26541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90"/>
              </a:lnSpc>
              <a:buNone/>
            </a:pPr>
            <a:r>
              <a:rPr lang="en-US" sz="1350" dirty="0">
                <a:solidFill>
                  <a:srgbClr val="1B2A22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CNN + transfer learning: MobileNetV2, ResNet50, EfficientNetB0</a:t>
            </a:r>
            <a:endParaRPr lang="en-US" sz="1350" dirty="0"/>
          </a:p>
        </p:txBody>
      </p:sp>
      <p:sp>
        <p:nvSpPr>
          <p:cNvPr id="15" name="Shape 12"/>
          <p:cNvSpPr/>
          <p:nvPr/>
        </p:nvSpPr>
        <p:spPr>
          <a:xfrm>
            <a:off x="812800" y="4085382"/>
            <a:ext cx="6350000" cy="707330"/>
          </a:xfrm>
          <a:prstGeom prst="roundRect">
            <a:avLst>
              <a:gd name="adj" fmla="val 12568"/>
            </a:avLst>
          </a:prstGeom>
          <a:solidFill>
            <a:srgbClr val="14301F"/>
          </a:solidFill>
          <a:ln/>
        </p:spPr>
      </p:sp>
      <p:sp>
        <p:nvSpPr>
          <p:cNvPr id="16" name="Text 13"/>
          <p:cNvSpPr/>
          <p:nvPr/>
        </p:nvSpPr>
        <p:spPr>
          <a:xfrm>
            <a:off x="990600" y="4199682"/>
            <a:ext cx="617423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00" kern="0" dirty="0">
                <a:solidFill>
                  <a:srgbClr val="7FD3A0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OUTPUT</a:t>
            </a:r>
            <a:endParaRPr lang="en-US" sz="1200" dirty="0"/>
          </a:p>
        </p:txBody>
      </p:sp>
      <p:sp>
        <p:nvSpPr>
          <p:cNvPr id="17" name="Text 14"/>
          <p:cNvSpPr/>
          <p:nvPr/>
        </p:nvSpPr>
        <p:spPr>
          <a:xfrm>
            <a:off x="990600" y="4438402"/>
            <a:ext cx="6174232" cy="26541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90"/>
              </a:lnSpc>
              <a:buNone/>
            </a:pPr>
            <a:r>
              <a:rPr lang="en-US" sz="1350" dirty="0">
                <a:solidFill>
                  <a:srgbClr val="F6F5EE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One of 7 classes with a confidence score, e.g. Plastic, 96.4%</a:t>
            </a:r>
            <a:endParaRPr lang="en-US" sz="1350" dirty="0"/>
          </a:p>
        </p:txBody>
      </p:sp>
      <p:sp>
        <p:nvSpPr>
          <p:cNvPr id="18" name="Text 15"/>
          <p:cNvSpPr/>
          <p:nvPr/>
        </p:nvSpPr>
        <p:spPr>
          <a:xfrm>
            <a:off x="812800" y="6238280"/>
            <a:ext cx="588645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C6860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Waste Classification · CNN &amp; Transfer Learning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6F5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6679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5060"/>
              </a:lnSpc>
              <a:buNone/>
            </a:pPr>
            <a:r>
              <a:rPr lang="en-US" sz="4600" b="1" dirty="0">
                <a:solidFill>
                  <a:srgbClr val="1E7A46"/>
                </a:solidFill>
                <a:latin typeface="Domine" pitchFamily="18" charset="0"/>
                <a:ea typeface="Domine" pitchFamily="18" charset="-122"/>
                <a:cs typeface="Domine" pitchFamily="18" charset="-120"/>
              </a:rPr>
              <a:t>Methodology</a:t>
            </a:r>
            <a:endParaRPr lang="en-US" sz="4600" dirty="0"/>
          </a:p>
        </p:txBody>
      </p:sp>
      <p:sp>
        <p:nvSpPr>
          <p:cNvPr id="3" name="Text 1"/>
          <p:cNvSpPr/>
          <p:nvPr/>
        </p:nvSpPr>
        <p:spPr>
          <a:xfrm>
            <a:off x="812800" y="1518890"/>
            <a:ext cx="10883392" cy="2844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040"/>
              </a:lnSpc>
              <a:buNone/>
            </a:pPr>
            <a:r>
              <a:rPr lang="en-US" sz="1700" b="1" dirty="0">
                <a:solidFill>
                  <a:srgbClr val="14301F"/>
                </a:solidFill>
                <a:latin typeface="Domine" pitchFamily="18" charset="0"/>
                <a:ea typeface="Domine" pitchFamily="18" charset="-122"/>
                <a:cs typeface="Domine" pitchFamily="18" charset="-120"/>
              </a:rPr>
              <a:t>Nine steps from data to web app</a:t>
            </a:r>
            <a:endParaRPr lang="en-US" sz="1700" dirty="0"/>
          </a:p>
        </p:txBody>
      </p:sp>
      <p:sp>
        <p:nvSpPr>
          <p:cNvPr id="4" name="Shape 2"/>
          <p:cNvSpPr/>
          <p:nvPr/>
        </p:nvSpPr>
        <p:spPr>
          <a:xfrm>
            <a:off x="815975" y="2009725"/>
            <a:ext cx="3414167" cy="1017191"/>
          </a:xfrm>
          <a:prstGeom prst="roundRect">
            <a:avLst>
              <a:gd name="adj" fmla="val 8428"/>
            </a:avLst>
          </a:prstGeom>
          <a:solidFill>
            <a:srgbClr val="FDFCF8"/>
          </a:solidFill>
          <a:ln w="6350">
            <a:solidFill>
              <a:srgbClr val="D8DFD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84250" y="2152600"/>
            <a:ext cx="3169945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1E7A46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01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984250" y="2404021"/>
            <a:ext cx="3169945" cy="26541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90"/>
              </a:lnSpc>
              <a:buNone/>
            </a:pPr>
            <a:r>
              <a:rPr lang="en-US" sz="1350" dirty="0">
                <a:solidFill>
                  <a:srgbClr val="1B2A22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Collect the dataset in 7 class folders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4388892" y="2009725"/>
            <a:ext cx="3414167" cy="1017191"/>
          </a:xfrm>
          <a:prstGeom prst="roundRect">
            <a:avLst>
              <a:gd name="adj" fmla="val 8428"/>
            </a:avLst>
          </a:prstGeom>
          <a:solidFill>
            <a:srgbClr val="FDFCF8"/>
          </a:solidFill>
          <a:ln w="6350">
            <a:solidFill>
              <a:srgbClr val="D8DFD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57167" y="2152600"/>
            <a:ext cx="3169945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1E7A46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02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57167" y="2404021"/>
            <a:ext cx="3169945" cy="5054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90"/>
              </a:lnSpc>
              <a:buNone/>
            </a:pPr>
            <a:r>
              <a:rPr lang="en-US" sz="1350" dirty="0">
                <a:solidFill>
                  <a:srgbClr val="1B2A22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Run EDA: counts, bad files, sizes, samples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7961809" y="2009725"/>
            <a:ext cx="3414216" cy="1017191"/>
          </a:xfrm>
          <a:prstGeom prst="roundRect">
            <a:avLst>
              <a:gd name="adj" fmla="val 8428"/>
            </a:avLst>
          </a:prstGeom>
          <a:solidFill>
            <a:srgbClr val="FDFCF8"/>
          </a:solidFill>
          <a:ln w="6350">
            <a:solidFill>
              <a:srgbClr val="D8DFD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130084" y="2152600"/>
            <a:ext cx="3169996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1E7A46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03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8130084" y="2404021"/>
            <a:ext cx="3169996" cy="26541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90"/>
              </a:lnSpc>
              <a:buNone/>
            </a:pPr>
            <a:r>
              <a:rPr lang="en-US" sz="1350" dirty="0">
                <a:solidFill>
                  <a:srgbClr val="1B2A22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Preprocess and split into train, val, test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815975" y="3185666"/>
            <a:ext cx="3414167" cy="1017191"/>
          </a:xfrm>
          <a:prstGeom prst="roundRect">
            <a:avLst>
              <a:gd name="adj" fmla="val 8428"/>
            </a:avLst>
          </a:prstGeom>
          <a:solidFill>
            <a:srgbClr val="FDFCF8"/>
          </a:solidFill>
          <a:ln w="6350">
            <a:solidFill>
              <a:srgbClr val="D8DFD3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84250" y="3328541"/>
            <a:ext cx="3169945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1E7A46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04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984250" y="3579961"/>
            <a:ext cx="3169945" cy="26541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90"/>
              </a:lnSpc>
              <a:buNone/>
            </a:pPr>
            <a:r>
              <a:rPr lang="en-US" sz="1350" dirty="0">
                <a:solidFill>
                  <a:srgbClr val="1B2A22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Augment: flip, rotate, zoom, shift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4388892" y="3185666"/>
            <a:ext cx="3414167" cy="1017191"/>
          </a:xfrm>
          <a:prstGeom prst="roundRect">
            <a:avLst>
              <a:gd name="adj" fmla="val 8428"/>
            </a:avLst>
          </a:prstGeom>
          <a:solidFill>
            <a:srgbClr val="FDFCF8"/>
          </a:solidFill>
          <a:ln w="6350">
            <a:solidFill>
              <a:srgbClr val="D8DFD3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557167" y="3328541"/>
            <a:ext cx="3169945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1E7A46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05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4557167" y="3579961"/>
            <a:ext cx="3169945" cy="5054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90"/>
              </a:lnSpc>
              <a:buNone/>
            </a:pPr>
            <a:r>
              <a:rPr lang="en-US" sz="1350" dirty="0">
                <a:solidFill>
                  <a:srgbClr val="1B2A22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Attach a 7-class head to a pre-trained backbone</a:t>
            </a:r>
            <a:endParaRPr lang="en-US" sz="1350" dirty="0"/>
          </a:p>
        </p:txBody>
      </p:sp>
      <p:sp>
        <p:nvSpPr>
          <p:cNvPr id="19" name="Shape 17"/>
          <p:cNvSpPr/>
          <p:nvPr/>
        </p:nvSpPr>
        <p:spPr>
          <a:xfrm>
            <a:off x="7961809" y="3185666"/>
            <a:ext cx="3414216" cy="1017191"/>
          </a:xfrm>
          <a:prstGeom prst="roundRect">
            <a:avLst>
              <a:gd name="adj" fmla="val 8428"/>
            </a:avLst>
          </a:prstGeom>
          <a:solidFill>
            <a:srgbClr val="FDFCF8"/>
          </a:solidFill>
          <a:ln w="6350">
            <a:solidFill>
              <a:srgbClr val="D8DFD3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0084" y="3328541"/>
            <a:ext cx="3169996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1E7A46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06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8130084" y="3579961"/>
            <a:ext cx="3169996" cy="5054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90"/>
              </a:lnSpc>
              <a:buNone/>
            </a:pPr>
            <a:r>
              <a:rPr lang="en-US" sz="1350" dirty="0">
                <a:solidFill>
                  <a:srgbClr val="1B2A22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Train the head, then fine-tune the top layers</a:t>
            </a:r>
            <a:endParaRPr lang="en-US" sz="1350" dirty="0"/>
          </a:p>
        </p:txBody>
      </p:sp>
      <p:sp>
        <p:nvSpPr>
          <p:cNvPr id="22" name="Shape 20"/>
          <p:cNvSpPr/>
          <p:nvPr/>
        </p:nvSpPr>
        <p:spPr>
          <a:xfrm>
            <a:off x="815975" y="4361607"/>
            <a:ext cx="3414167" cy="777180"/>
          </a:xfrm>
          <a:prstGeom prst="roundRect">
            <a:avLst>
              <a:gd name="adj" fmla="val 11030"/>
            </a:avLst>
          </a:prstGeom>
          <a:solidFill>
            <a:srgbClr val="FDFCF8"/>
          </a:solidFill>
          <a:ln w="6350">
            <a:solidFill>
              <a:srgbClr val="D8DFD3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984250" y="4504482"/>
            <a:ext cx="3169945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1E7A46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07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984250" y="4755902"/>
            <a:ext cx="3169945" cy="26541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90"/>
              </a:lnSpc>
              <a:buNone/>
            </a:pPr>
            <a:r>
              <a:rPr lang="en-US" sz="1350" dirty="0">
                <a:solidFill>
                  <a:srgbClr val="1B2A22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Evaluate on the unseen test set</a:t>
            </a:r>
            <a:endParaRPr lang="en-US" sz="1350" dirty="0"/>
          </a:p>
        </p:txBody>
      </p:sp>
      <p:sp>
        <p:nvSpPr>
          <p:cNvPr id="25" name="Shape 23"/>
          <p:cNvSpPr/>
          <p:nvPr/>
        </p:nvSpPr>
        <p:spPr>
          <a:xfrm>
            <a:off x="4388892" y="4361607"/>
            <a:ext cx="3414167" cy="777180"/>
          </a:xfrm>
          <a:prstGeom prst="roundRect">
            <a:avLst>
              <a:gd name="adj" fmla="val 11030"/>
            </a:avLst>
          </a:prstGeom>
          <a:solidFill>
            <a:srgbClr val="FDFCF8"/>
          </a:solidFill>
          <a:ln w="6350">
            <a:solidFill>
              <a:srgbClr val="D8DFD3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557167" y="4504482"/>
            <a:ext cx="3169945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1E7A46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08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4557167" y="4755902"/>
            <a:ext cx="3169945" cy="26541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90"/>
              </a:lnSpc>
              <a:buNone/>
            </a:pPr>
            <a:r>
              <a:rPr lang="en-US" sz="1350" dirty="0">
                <a:solidFill>
                  <a:srgbClr val="1B2A22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Save the model and serve it with Flask</a:t>
            </a:r>
            <a:endParaRPr lang="en-US" sz="1350" dirty="0"/>
          </a:p>
        </p:txBody>
      </p:sp>
      <p:sp>
        <p:nvSpPr>
          <p:cNvPr id="28" name="Shape 26"/>
          <p:cNvSpPr/>
          <p:nvPr/>
        </p:nvSpPr>
        <p:spPr>
          <a:xfrm>
            <a:off x="7958634" y="4358432"/>
            <a:ext cx="3420566" cy="783530"/>
          </a:xfrm>
          <a:prstGeom prst="roundRect">
            <a:avLst>
              <a:gd name="adj" fmla="val 11346"/>
            </a:avLst>
          </a:prstGeom>
          <a:solidFill>
            <a:srgbClr val="14301F"/>
          </a:solidFill>
          <a:ln/>
        </p:spPr>
      </p:sp>
      <p:sp>
        <p:nvSpPr>
          <p:cNvPr id="29" name="Text 27"/>
          <p:cNvSpPr/>
          <p:nvPr/>
        </p:nvSpPr>
        <p:spPr>
          <a:xfrm>
            <a:off x="8123734" y="4498132"/>
            <a:ext cx="3183077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7FD3A0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09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8123734" y="4749552"/>
            <a:ext cx="3183077" cy="26541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90"/>
              </a:lnSpc>
              <a:buNone/>
            </a:pPr>
            <a:r>
              <a:rPr lang="en-US" sz="1350" dirty="0">
                <a:solidFill>
                  <a:srgbClr val="F6F5EE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Connect the web front end</a:t>
            </a:r>
            <a:endParaRPr lang="en-US" sz="1350" dirty="0"/>
          </a:p>
        </p:txBody>
      </p:sp>
      <p:sp>
        <p:nvSpPr>
          <p:cNvPr id="31" name="Text 29"/>
          <p:cNvSpPr/>
          <p:nvPr/>
        </p:nvSpPr>
        <p:spPr>
          <a:xfrm>
            <a:off x="812800" y="6238280"/>
            <a:ext cx="588645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C6860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Waste Classification · CNN &amp; Transfer Learning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10693400" y="6238280"/>
            <a:ext cx="6858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C6860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9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6F5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6679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5060"/>
              </a:lnSpc>
              <a:buNone/>
            </a:pPr>
            <a:r>
              <a:rPr lang="en-US" sz="4600" b="1" dirty="0">
                <a:solidFill>
                  <a:srgbClr val="1E7A46"/>
                </a:solidFill>
                <a:latin typeface="Domine" pitchFamily="18" charset="0"/>
                <a:ea typeface="Domine" pitchFamily="18" charset="-122"/>
                <a:cs typeface="Domine" pitchFamily="18" charset="-120"/>
              </a:rPr>
              <a:t>End-to-end workflow</a:t>
            </a:r>
            <a:endParaRPr lang="en-US" sz="4600" dirty="0"/>
          </a:p>
        </p:txBody>
      </p:sp>
      <p:sp>
        <p:nvSpPr>
          <p:cNvPr id="3" name="Text 1"/>
          <p:cNvSpPr/>
          <p:nvPr/>
        </p:nvSpPr>
        <p:spPr>
          <a:xfrm>
            <a:off x="812800" y="1518890"/>
            <a:ext cx="10883392" cy="2844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040"/>
              </a:lnSpc>
              <a:buNone/>
            </a:pPr>
            <a:r>
              <a:rPr lang="en-US" sz="1700" b="1" dirty="0">
                <a:solidFill>
                  <a:srgbClr val="14301F"/>
                </a:solidFill>
                <a:latin typeface="Domine" pitchFamily="18" charset="0"/>
                <a:ea typeface="Domine" pitchFamily="18" charset="-122"/>
                <a:cs typeface="Domine" pitchFamily="18" charset="-120"/>
              </a:rPr>
              <a:t>What happens when a user clicks Classify</a:t>
            </a:r>
            <a:endParaRPr lang="en-US" sz="1700" dirty="0"/>
          </a:p>
        </p:txBody>
      </p:sp>
      <p:sp>
        <p:nvSpPr>
          <p:cNvPr id="4" name="Shape 2"/>
          <p:cNvSpPr/>
          <p:nvPr/>
        </p:nvSpPr>
        <p:spPr>
          <a:xfrm>
            <a:off x="815975" y="2009725"/>
            <a:ext cx="2028180" cy="1080691"/>
          </a:xfrm>
          <a:prstGeom prst="roundRect">
            <a:avLst>
              <a:gd name="adj" fmla="val 7932"/>
            </a:avLst>
          </a:prstGeom>
          <a:solidFill>
            <a:srgbClr val="FDFCF8"/>
          </a:solidFill>
          <a:ln w="6350">
            <a:solidFill>
              <a:srgbClr val="D8DFD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58850" y="2178000"/>
            <a:ext cx="1794703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1E7A46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1 · User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958850" y="2442121"/>
            <a:ext cx="1794703" cy="26541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90"/>
              </a:lnSpc>
              <a:buNone/>
            </a:pPr>
            <a:r>
              <a:rPr lang="en-US" sz="1350" dirty="0">
                <a:solidFill>
                  <a:srgbClr val="1B2A22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Selects an image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2952105" y="2009725"/>
            <a:ext cx="2028230" cy="1080691"/>
          </a:xfrm>
          <a:prstGeom prst="roundRect">
            <a:avLst>
              <a:gd name="adj" fmla="val 7932"/>
            </a:avLst>
          </a:prstGeom>
          <a:solidFill>
            <a:srgbClr val="FDFCF8"/>
          </a:solidFill>
          <a:ln w="6350">
            <a:solidFill>
              <a:srgbClr val="D8DFD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094980" y="2178000"/>
            <a:ext cx="1794754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1E7A46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2 · Frontend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3094980" y="2442121"/>
            <a:ext cx="1794754" cy="5054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90"/>
              </a:lnSpc>
              <a:buNone/>
            </a:pPr>
            <a:r>
              <a:rPr lang="en-US" sz="1350" dirty="0">
                <a:solidFill>
                  <a:srgbClr val="1B2A22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Previews, then sends it to the API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5088285" y="2009725"/>
            <a:ext cx="2028180" cy="1080691"/>
          </a:xfrm>
          <a:prstGeom prst="roundRect">
            <a:avLst>
              <a:gd name="adj" fmla="val 7932"/>
            </a:avLst>
          </a:prstGeom>
          <a:solidFill>
            <a:srgbClr val="FDFCF8"/>
          </a:solidFill>
          <a:ln w="6350">
            <a:solidFill>
              <a:srgbClr val="D8DFD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231160" y="2178000"/>
            <a:ext cx="1794703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1E7A46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3 · Backend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5231160" y="2442121"/>
            <a:ext cx="1794703" cy="5054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90"/>
              </a:lnSpc>
              <a:buNone/>
            </a:pPr>
            <a:r>
              <a:rPr lang="en-US" sz="1350" dirty="0">
                <a:solidFill>
                  <a:srgbClr val="1B2A22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Resize 224×224, RGB, normalise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7224415" y="2009725"/>
            <a:ext cx="2028180" cy="1080691"/>
          </a:xfrm>
          <a:prstGeom prst="roundRect">
            <a:avLst>
              <a:gd name="adj" fmla="val 7932"/>
            </a:avLst>
          </a:prstGeom>
          <a:solidFill>
            <a:srgbClr val="FDFCF8"/>
          </a:solidFill>
          <a:ln w="6350">
            <a:solidFill>
              <a:srgbClr val="D8DFD3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367290" y="2178000"/>
            <a:ext cx="1794703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1E7A46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4 · CNN model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7367290" y="2442121"/>
            <a:ext cx="1794703" cy="26541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90"/>
              </a:lnSpc>
              <a:buNone/>
            </a:pPr>
            <a:r>
              <a:rPr lang="en-US" sz="1350" dirty="0">
                <a:solidFill>
                  <a:srgbClr val="1B2A22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Predicts the class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9357370" y="2006550"/>
            <a:ext cx="2021830" cy="1087041"/>
          </a:xfrm>
          <a:prstGeom prst="roundRect">
            <a:avLst>
              <a:gd name="adj" fmla="val 8178"/>
            </a:avLst>
          </a:prstGeom>
          <a:solidFill>
            <a:srgbClr val="14301F"/>
          </a:solidFill>
          <a:ln/>
        </p:spPr>
      </p:sp>
      <p:sp>
        <p:nvSpPr>
          <p:cNvPr id="17" name="Text 15"/>
          <p:cNvSpPr/>
          <p:nvPr/>
        </p:nvSpPr>
        <p:spPr>
          <a:xfrm>
            <a:off x="9497070" y="2171650"/>
            <a:ext cx="1794703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7FD3A0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5 · Frontend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9497070" y="2435771"/>
            <a:ext cx="1794703" cy="5054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90"/>
              </a:lnSpc>
              <a:buNone/>
            </a:pPr>
            <a:r>
              <a:rPr lang="en-US" sz="1350" dirty="0">
                <a:solidFill>
                  <a:srgbClr val="F6F5EE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Shows class and confidence</a:t>
            </a:r>
            <a:endParaRPr lang="en-US" sz="1350" dirty="0"/>
          </a:p>
        </p:txBody>
      </p:sp>
      <p:sp>
        <p:nvSpPr>
          <p:cNvPr id="19" name="Shape 17"/>
          <p:cNvSpPr/>
          <p:nvPr/>
        </p:nvSpPr>
        <p:spPr>
          <a:xfrm>
            <a:off x="812800" y="3322191"/>
            <a:ext cx="5181600" cy="1219101"/>
          </a:xfrm>
          <a:prstGeom prst="roundRect">
            <a:avLst>
              <a:gd name="adj" fmla="val 8334"/>
            </a:avLst>
          </a:prstGeom>
          <a:solidFill>
            <a:srgbClr val="1F2A24"/>
          </a:solidFill>
          <a:ln/>
        </p:spPr>
      </p:sp>
      <p:sp>
        <p:nvSpPr>
          <p:cNvPr id="20" name="Text 18"/>
          <p:cNvSpPr/>
          <p:nvPr/>
        </p:nvSpPr>
        <p:spPr>
          <a:xfrm>
            <a:off x="1041400" y="3512691"/>
            <a:ext cx="486613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00" kern="0" dirty="0">
                <a:solidFill>
                  <a:srgbClr val="7FD3A0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REQUEST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1041400" y="3789511"/>
            <a:ext cx="4866132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F6F5EE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POST /predict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1041400" y="4101902"/>
            <a:ext cx="4866132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C9DCCF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file: waste_image.jpg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6197600" y="3322191"/>
            <a:ext cx="5181600" cy="1219101"/>
          </a:xfrm>
          <a:prstGeom prst="roundRect">
            <a:avLst>
              <a:gd name="adj" fmla="val 8334"/>
            </a:avLst>
          </a:prstGeom>
          <a:solidFill>
            <a:srgbClr val="1F2A24"/>
          </a:solidFill>
          <a:ln/>
        </p:spPr>
      </p:sp>
      <p:sp>
        <p:nvSpPr>
          <p:cNvPr id="24" name="Text 22"/>
          <p:cNvSpPr/>
          <p:nvPr/>
        </p:nvSpPr>
        <p:spPr>
          <a:xfrm>
            <a:off x="6426200" y="3512691"/>
            <a:ext cx="486613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00" kern="0" dirty="0">
                <a:solidFill>
                  <a:srgbClr val="7FD3A0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RESPONSE · 200 OK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6426200" y="3789511"/>
            <a:ext cx="4866132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F6F5EE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{"class": "Plastic",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6426200" y="4101902"/>
            <a:ext cx="4866132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F6F5EE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"confidence": 0.964}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812800" y="6238280"/>
            <a:ext cx="588645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C6860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Waste Classification · CNN &amp; Transfer Learning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10693400" y="6238280"/>
            <a:ext cx="6858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C6860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10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6F5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6679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5060"/>
              </a:lnSpc>
              <a:buNone/>
            </a:pPr>
            <a:r>
              <a:rPr lang="en-US" sz="4600" b="1" dirty="0">
                <a:solidFill>
                  <a:srgbClr val="1E7A46"/>
                </a:solidFill>
                <a:latin typeface="Domine" pitchFamily="18" charset="0"/>
                <a:ea typeface="Domine" pitchFamily="18" charset="-122"/>
                <a:cs typeface="Domine" pitchFamily="18" charset="-120"/>
              </a:rPr>
              <a:t>Technology stack</a:t>
            </a:r>
            <a:endParaRPr lang="en-US" sz="4600" dirty="0"/>
          </a:p>
        </p:txBody>
      </p:sp>
      <p:sp>
        <p:nvSpPr>
          <p:cNvPr id="3" name="Text 1"/>
          <p:cNvSpPr/>
          <p:nvPr/>
        </p:nvSpPr>
        <p:spPr>
          <a:xfrm>
            <a:off x="812800" y="1518890"/>
            <a:ext cx="10883392" cy="2844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040"/>
              </a:lnSpc>
              <a:buNone/>
            </a:pPr>
            <a:r>
              <a:rPr lang="en-US" sz="1700" b="1" dirty="0">
                <a:solidFill>
                  <a:srgbClr val="14301F"/>
                </a:solidFill>
                <a:latin typeface="Domine" pitchFamily="18" charset="0"/>
                <a:ea typeface="Domine" pitchFamily="18" charset="-122"/>
                <a:cs typeface="Domine" pitchFamily="18" charset="-120"/>
              </a:rPr>
              <a:t>Tools used at each layer</a:t>
            </a:r>
            <a:endParaRPr lang="en-US" sz="17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25500" y="2019250"/>
          <a:ext cx="10553700" cy="2702074"/>
        </p:xfrm>
        <a:graphic>
          <a:graphicData uri="http://schemas.openxmlformats.org/drawingml/2006/table">
            <a:tbl>
              <a:tblPr/>
              <a:tblGrid>
                <a:gridCol w="3166110"/>
                <a:gridCol w="7387590"/>
              </a:tblGrid>
              <a:tr h="386011"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b="1" dirty="0">
                          <a:solidFill>
                            <a:srgbClr val="F6F5EE"/>
                          </a:solidFill>
                          <a:latin typeface="Nunito Sans" pitchFamily="34" charset="0"/>
                          <a:ea typeface="Nunito Sans" pitchFamily="34" charset="-122"/>
                          <a:cs typeface="Nunito Sans" pitchFamily="34" charset="-120"/>
                        </a:rPr>
                        <a:t>Layer</a:t>
                      </a:r>
                      <a:endParaRPr lang="en-US" sz="1400" dirty="0">
                        <a:latin typeface="Nunito Sans" charset="0"/>
                        <a:ea typeface="Nunito Sans" charset="0"/>
                        <a:cs typeface="Nunito Sans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C4C4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6B5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4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6B5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3D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b="1" dirty="0">
                          <a:solidFill>
                            <a:srgbClr val="F6F5EE"/>
                          </a:solidFill>
                          <a:latin typeface="Nunito Sans" pitchFamily="34" charset="0"/>
                          <a:ea typeface="Nunito Sans" pitchFamily="34" charset="-122"/>
                          <a:cs typeface="Nunito Sans" pitchFamily="34" charset="-120"/>
                        </a:rPr>
                        <a:t>Technologies</a:t>
                      </a:r>
                      <a:endParaRPr lang="en-US" sz="1400" dirty="0">
                        <a:latin typeface="Nunito Sans" charset="0"/>
                        <a:ea typeface="Nunito Sans" charset="0"/>
                        <a:cs typeface="Nunito Sans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B6B5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6B5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4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6B5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3DC"/>
                    </a:solidFill>
                  </a:tcPr>
                </a:tc>
              </a:tr>
              <a:tr h="386011"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B2A22"/>
                          </a:solidFill>
                          <a:latin typeface="Nunito Sans" pitchFamily="34" charset="0"/>
                          <a:ea typeface="Nunito Sans" pitchFamily="34" charset="-122"/>
                          <a:cs typeface="Nunito Sans" pitchFamily="34" charset="-120"/>
                        </a:rPr>
                        <a:t>Languages</a:t>
                      </a:r>
                      <a:endParaRPr lang="en-US" sz="1400" dirty="0">
                        <a:latin typeface="Nunito Sans" charset="0"/>
                        <a:ea typeface="Nunito Sans" charset="0"/>
                        <a:cs typeface="Nunito Sans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C4C4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4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6B5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4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B2A22"/>
                          </a:solidFill>
                          <a:latin typeface="Nunito Sans" pitchFamily="34" charset="0"/>
                          <a:ea typeface="Nunito Sans" pitchFamily="34" charset="-122"/>
                          <a:cs typeface="Nunito Sans" pitchFamily="34" charset="-120"/>
                        </a:rPr>
                        <a:t>Python · HTML5 · CSS3 · JavaScript</a:t>
                      </a:r>
                      <a:endParaRPr lang="en-US" sz="1400" dirty="0">
                        <a:latin typeface="Nunito Sans" charset="0"/>
                        <a:ea typeface="Nunito Sans" charset="0"/>
                        <a:cs typeface="Nunito Sans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C4C4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4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6B5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4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6011"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B2A22"/>
                          </a:solidFill>
                          <a:latin typeface="Nunito Sans" pitchFamily="34" charset="0"/>
                          <a:ea typeface="Nunito Sans" pitchFamily="34" charset="-122"/>
                          <a:cs typeface="Nunito Sans" pitchFamily="34" charset="-120"/>
                        </a:rPr>
                        <a:t>Frameworks</a:t>
                      </a:r>
                      <a:endParaRPr lang="en-US" sz="1400" dirty="0">
                        <a:latin typeface="Nunito Sans" charset="0"/>
                        <a:ea typeface="Nunito Sans" charset="0"/>
                        <a:cs typeface="Nunito Sans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C4C4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4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4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4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B2A22"/>
                          </a:solidFill>
                          <a:latin typeface="Nunito Sans" pitchFamily="34" charset="0"/>
                          <a:ea typeface="Nunito Sans" pitchFamily="34" charset="-122"/>
                          <a:cs typeface="Nunito Sans" pitchFamily="34" charset="-120"/>
                        </a:rPr>
                        <a:t>Flask REST API · TensorFlow / Keras</a:t>
                      </a:r>
                      <a:endParaRPr lang="en-US" sz="1400" dirty="0">
                        <a:latin typeface="Nunito Sans" charset="0"/>
                        <a:ea typeface="Nunito Sans" charset="0"/>
                        <a:cs typeface="Nunito Sans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C4C4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4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4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4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6011"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B2A22"/>
                          </a:solidFill>
                          <a:latin typeface="Nunito Sans" pitchFamily="34" charset="0"/>
                          <a:ea typeface="Nunito Sans" pitchFamily="34" charset="-122"/>
                          <a:cs typeface="Nunito Sans" pitchFamily="34" charset="-120"/>
                        </a:rPr>
                        <a:t>Libraries</a:t>
                      </a:r>
                      <a:endParaRPr lang="en-US" sz="1400" dirty="0">
                        <a:latin typeface="Nunito Sans" charset="0"/>
                        <a:ea typeface="Nunito Sans" charset="0"/>
                        <a:cs typeface="Nunito Sans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C4C4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4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4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4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B2A22"/>
                          </a:solidFill>
                          <a:latin typeface="Nunito Sans" pitchFamily="34" charset="0"/>
                          <a:ea typeface="Nunito Sans" pitchFamily="34" charset="-122"/>
                          <a:cs typeface="Nunito Sans" pitchFamily="34" charset="-120"/>
                        </a:rPr>
                        <a:t>Pillow · NumPy · scikit-learn · Matplotlib · Fetch API</a:t>
                      </a:r>
                      <a:endParaRPr lang="en-US" sz="1400" dirty="0">
                        <a:latin typeface="Nunito Sans" charset="0"/>
                        <a:ea typeface="Nunito Sans" charset="0"/>
                        <a:cs typeface="Nunito Sans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C4C4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4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4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4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6011"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B2A22"/>
                          </a:solidFill>
                          <a:latin typeface="Nunito Sans" pitchFamily="34" charset="0"/>
                          <a:ea typeface="Nunito Sans" pitchFamily="34" charset="-122"/>
                          <a:cs typeface="Nunito Sans" pitchFamily="34" charset="-120"/>
                        </a:rPr>
                        <a:t>ML models</a:t>
                      </a:r>
                      <a:endParaRPr lang="en-US" sz="1400" dirty="0">
                        <a:latin typeface="Nunito Sans" charset="0"/>
                        <a:ea typeface="Nunito Sans" charset="0"/>
                        <a:cs typeface="Nunito Sans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C4C4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4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4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4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B2A22"/>
                          </a:solidFill>
                          <a:latin typeface="Nunito Sans" pitchFamily="34" charset="0"/>
                          <a:ea typeface="Nunito Sans" pitchFamily="34" charset="-122"/>
                          <a:cs typeface="Nunito Sans" pitchFamily="34" charset="-120"/>
                        </a:rPr>
                        <a:t>MobileNetV2 · ResNet50 · EfficientNetB0 (.keras / .h5)</a:t>
                      </a:r>
                      <a:endParaRPr lang="en-US" sz="1400" dirty="0">
                        <a:latin typeface="Nunito Sans" charset="0"/>
                        <a:ea typeface="Nunito Sans" charset="0"/>
                        <a:cs typeface="Nunito Sans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C4C4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4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4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4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6011"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B2A22"/>
                          </a:solidFill>
                          <a:latin typeface="Nunito Sans" pitchFamily="34" charset="0"/>
                          <a:ea typeface="Nunito Sans" pitchFamily="34" charset="-122"/>
                          <a:cs typeface="Nunito Sans" pitchFamily="34" charset="-120"/>
                        </a:rPr>
                        <a:t>Database</a:t>
                      </a:r>
                      <a:endParaRPr lang="en-US" sz="1400" dirty="0">
                        <a:latin typeface="Nunito Sans" charset="0"/>
                        <a:ea typeface="Nunito Sans" charset="0"/>
                        <a:cs typeface="Nunito Sans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C4C4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4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4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4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B2A22"/>
                          </a:solidFill>
                          <a:latin typeface="Nunito Sans" pitchFamily="34" charset="0"/>
                          <a:ea typeface="Nunito Sans" pitchFamily="34" charset="-122"/>
                          <a:cs typeface="Nunito Sans" pitchFamily="34" charset="-120"/>
                        </a:rPr>
                        <a:t>SQLite (optional): timestamp, category, confidence</a:t>
                      </a:r>
                      <a:endParaRPr lang="en-US" sz="1400" dirty="0">
                        <a:latin typeface="Nunito Sans" charset="0"/>
                        <a:ea typeface="Nunito Sans" charset="0"/>
                        <a:cs typeface="Nunito Sans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C4C4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4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4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4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6011"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B2A22"/>
                          </a:solidFill>
                          <a:latin typeface="Nunito Sans" pitchFamily="34" charset="0"/>
                          <a:ea typeface="Nunito Sans" pitchFamily="34" charset="-122"/>
                          <a:cs typeface="Nunito Sans" pitchFamily="34" charset="-120"/>
                        </a:rPr>
                        <a:t>Hardware</a:t>
                      </a:r>
                      <a:endParaRPr lang="en-US" sz="1400" dirty="0">
                        <a:latin typeface="Nunito Sans" charset="0"/>
                        <a:ea typeface="Nunito Sans" charset="0"/>
                        <a:cs typeface="Nunito Sans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C4C4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4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4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4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B2A22"/>
                          </a:solidFill>
                          <a:latin typeface="Nunito Sans" pitchFamily="34" charset="0"/>
                          <a:ea typeface="Nunito Sans" pitchFamily="34" charset="-122"/>
                          <a:cs typeface="Nunito Sans" pitchFamily="34" charset="-120"/>
                        </a:rPr>
                        <a:t>Standard CPU server, no special hardware needed</a:t>
                      </a:r>
                      <a:endParaRPr lang="en-US" sz="1400" dirty="0">
                        <a:latin typeface="Nunito Sans" charset="0"/>
                        <a:ea typeface="Nunito Sans" charset="0"/>
                        <a:cs typeface="Nunito Sans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C4C4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4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4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4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812800" y="6238280"/>
            <a:ext cx="588645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C6860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Waste Classification · CNN &amp; Transfer Learning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10693400" y="6238280"/>
            <a:ext cx="6858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C6860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11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6F5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6679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5060"/>
              </a:lnSpc>
              <a:buNone/>
            </a:pPr>
            <a:r>
              <a:rPr lang="en-US" sz="4600" b="1" dirty="0">
                <a:solidFill>
                  <a:srgbClr val="1E7A46"/>
                </a:solidFill>
                <a:latin typeface="Domine" pitchFamily="18" charset="0"/>
                <a:ea typeface="Domine" pitchFamily="18" charset="-122"/>
                <a:cs typeface="Domine" pitchFamily="18" charset="-120"/>
              </a:rPr>
              <a:t>System modules</a:t>
            </a:r>
            <a:endParaRPr lang="en-US" sz="4600" dirty="0"/>
          </a:p>
        </p:txBody>
      </p:sp>
      <p:sp>
        <p:nvSpPr>
          <p:cNvPr id="3" name="Text 1"/>
          <p:cNvSpPr/>
          <p:nvPr/>
        </p:nvSpPr>
        <p:spPr>
          <a:xfrm>
            <a:off x="812800" y="1518890"/>
            <a:ext cx="10883392" cy="2844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040"/>
              </a:lnSpc>
              <a:buNone/>
            </a:pPr>
            <a:r>
              <a:rPr lang="en-US" sz="1700" b="1" dirty="0">
                <a:solidFill>
                  <a:srgbClr val="14301F"/>
                </a:solidFill>
                <a:latin typeface="Domine" pitchFamily="18" charset="0"/>
                <a:ea typeface="Domine" pitchFamily="18" charset="-122"/>
                <a:cs typeface="Domine" pitchFamily="18" charset="-120"/>
              </a:rPr>
              <a:t>Eight components working together</a:t>
            </a:r>
            <a:endParaRPr lang="en-US" sz="1700" dirty="0"/>
          </a:p>
        </p:txBody>
      </p:sp>
      <p:sp>
        <p:nvSpPr>
          <p:cNvPr id="4" name="Shape 2"/>
          <p:cNvSpPr/>
          <p:nvPr/>
        </p:nvSpPr>
        <p:spPr>
          <a:xfrm>
            <a:off x="815975" y="2009725"/>
            <a:ext cx="2540000" cy="1001911"/>
          </a:xfrm>
          <a:prstGeom prst="roundRect">
            <a:avLst>
              <a:gd name="adj" fmla="val 8556"/>
            </a:avLst>
          </a:prstGeom>
          <a:solidFill>
            <a:srgbClr val="FDFCF8"/>
          </a:solidFill>
          <a:ln w="6350">
            <a:solidFill>
              <a:srgbClr val="D8DFD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71550" y="2165300"/>
            <a:ext cx="2295715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400" b="1" dirty="0">
                <a:solidFill>
                  <a:srgbClr val="14301F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User interface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971550" y="2429421"/>
            <a:ext cx="2295715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46544B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Upload, preview, classify, result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489325" y="2009725"/>
            <a:ext cx="2540000" cy="1001911"/>
          </a:xfrm>
          <a:prstGeom prst="roundRect">
            <a:avLst>
              <a:gd name="adj" fmla="val 8556"/>
            </a:avLst>
          </a:prstGeom>
          <a:solidFill>
            <a:srgbClr val="FDFCF8"/>
          </a:solidFill>
          <a:ln w="6350">
            <a:solidFill>
              <a:srgbClr val="D8DFD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644900" y="2165300"/>
            <a:ext cx="2295715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400" b="1" dirty="0">
                <a:solidFill>
                  <a:srgbClr val="14301F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Data collection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3644900" y="2429421"/>
            <a:ext cx="2295715" cy="4520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46544B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TrashNet-style dataset, 7 folders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162675" y="2009725"/>
            <a:ext cx="2540000" cy="1001911"/>
          </a:xfrm>
          <a:prstGeom prst="roundRect">
            <a:avLst>
              <a:gd name="adj" fmla="val 8556"/>
            </a:avLst>
          </a:prstGeom>
          <a:solidFill>
            <a:srgbClr val="FDFCF8"/>
          </a:solidFill>
          <a:ln w="6350">
            <a:solidFill>
              <a:srgbClr val="D8DFD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318250" y="2165300"/>
            <a:ext cx="2295715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400" b="1" dirty="0">
                <a:solidFill>
                  <a:srgbClr val="14301F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Preprocessing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6318250" y="2429421"/>
            <a:ext cx="2295715" cy="4520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46544B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Resize, normalise, augment, split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8832850" y="2006550"/>
            <a:ext cx="2546350" cy="1008261"/>
          </a:xfrm>
          <a:prstGeom prst="roundRect">
            <a:avLst>
              <a:gd name="adj" fmla="val 8817"/>
            </a:avLst>
          </a:prstGeom>
          <a:solidFill>
            <a:srgbClr val="14301F"/>
          </a:solidFill>
          <a:ln/>
        </p:spPr>
      </p:sp>
      <p:sp>
        <p:nvSpPr>
          <p:cNvPr id="14" name="Text 12"/>
          <p:cNvSpPr/>
          <p:nvPr/>
        </p:nvSpPr>
        <p:spPr>
          <a:xfrm>
            <a:off x="8985250" y="2158950"/>
            <a:ext cx="2308796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400" b="1" dirty="0">
                <a:solidFill>
                  <a:srgbClr val="F6F5EE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ML module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8985250" y="2423071"/>
            <a:ext cx="2308796" cy="4520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C9DCCF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Transfer-learning CNN, 7-class softmax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815975" y="3144986"/>
            <a:ext cx="2540000" cy="1001911"/>
          </a:xfrm>
          <a:prstGeom prst="roundRect">
            <a:avLst>
              <a:gd name="adj" fmla="val 8556"/>
            </a:avLst>
          </a:prstGeom>
          <a:solidFill>
            <a:srgbClr val="FDFCF8"/>
          </a:solidFill>
          <a:ln w="6350">
            <a:solidFill>
              <a:srgbClr val="D8DFD3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71550" y="3300561"/>
            <a:ext cx="2295715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400" b="1" dirty="0">
                <a:solidFill>
                  <a:srgbClr val="14301F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Prediction module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971550" y="3564682"/>
            <a:ext cx="2295715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46544B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Flask /predict returns JSON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3489325" y="3144986"/>
            <a:ext cx="2540000" cy="1001911"/>
          </a:xfrm>
          <a:prstGeom prst="roundRect">
            <a:avLst>
              <a:gd name="adj" fmla="val 8556"/>
            </a:avLst>
          </a:prstGeom>
          <a:solidFill>
            <a:srgbClr val="FDFCF8"/>
          </a:solidFill>
          <a:ln w="6350">
            <a:solidFill>
              <a:srgbClr val="D8DFD3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644900" y="3300561"/>
            <a:ext cx="2295715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400" b="1" dirty="0">
                <a:solidFill>
                  <a:srgbClr val="14301F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Database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3644900" y="3564682"/>
            <a:ext cx="2295715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46544B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Optional SQLite history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6162675" y="3144986"/>
            <a:ext cx="2540000" cy="1001911"/>
          </a:xfrm>
          <a:prstGeom prst="roundRect">
            <a:avLst>
              <a:gd name="adj" fmla="val 8556"/>
            </a:avLst>
          </a:prstGeom>
          <a:solidFill>
            <a:srgbClr val="FDFCF8"/>
          </a:solidFill>
          <a:ln w="6350">
            <a:solidFill>
              <a:srgbClr val="D8DFD3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318250" y="3300561"/>
            <a:ext cx="2295715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400" b="1" dirty="0">
                <a:solidFill>
                  <a:srgbClr val="14301F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Visualisation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6318250" y="3564682"/>
            <a:ext cx="2295715" cy="4520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46544B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Class chart, curves, confusion matrix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8836025" y="3144986"/>
            <a:ext cx="2540000" cy="1001911"/>
          </a:xfrm>
          <a:prstGeom prst="roundRect">
            <a:avLst>
              <a:gd name="adj" fmla="val 8556"/>
            </a:avLst>
          </a:prstGeom>
          <a:solidFill>
            <a:srgbClr val="FDFCF8"/>
          </a:solidFill>
          <a:ln w="6350">
            <a:solidFill>
              <a:srgbClr val="D8DFD3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991600" y="3300561"/>
            <a:ext cx="2295715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400" b="1" dirty="0">
                <a:solidFill>
                  <a:srgbClr val="14301F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Security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8991600" y="3564682"/>
            <a:ext cx="2295715" cy="4520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46544B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No login; no personal data stored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812800" y="6238280"/>
            <a:ext cx="588645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C6860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Waste Classification · CNN &amp; Transfer Learning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10693400" y="6238280"/>
            <a:ext cx="6858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C6860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12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6F5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6679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5060"/>
              </a:lnSpc>
              <a:buNone/>
            </a:pPr>
            <a:r>
              <a:rPr lang="en-US" sz="4600" b="1" dirty="0">
                <a:solidFill>
                  <a:srgbClr val="1E7A46"/>
                </a:solidFill>
                <a:latin typeface="Domine" pitchFamily="18" charset="0"/>
                <a:ea typeface="Domine" pitchFamily="18" charset="-122"/>
                <a:cs typeface="Domine" pitchFamily="18" charset="-120"/>
              </a:rPr>
              <a:t>Dataset</a:t>
            </a:r>
            <a:endParaRPr lang="en-US" sz="4600" dirty="0"/>
          </a:p>
        </p:txBody>
      </p:sp>
      <p:sp>
        <p:nvSpPr>
          <p:cNvPr id="3" name="Text 1"/>
          <p:cNvSpPr/>
          <p:nvPr/>
        </p:nvSpPr>
        <p:spPr>
          <a:xfrm>
            <a:off x="812800" y="1518890"/>
            <a:ext cx="10883392" cy="2844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040"/>
              </a:lnSpc>
              <a:buNone/>
            </a:pPr>
            <a:r>
              <a:rPr lang="en-US" sz="1700" b="1" dirty="0">
                <a:solidFill>
                  <a:srgbClr val="14301F"/>
                </a:solidFill>
                <a:latin typeface="Domine" pitchFamily="18" charset="0"/>
                <a:ea typeface="Domine" pitchFamily="18" charset="-122"/>
                <a:cs typeface="Domine" pitchFamily="18" charset="-120"/>
              </a:rPr>
              <a:t>Garbage Classification / TrashNet-style data</a:t>
            </a:r>
            <a:endParaRPr lang="en-US" sz="1700" dirty="0"/>
          </a:p>
        </p:txBody>
      </p:sp>
      <p:sp>
        <p:nvSpPr>
          <p:cNvPr id="4" name="Shape 2"/>
          <p:cNvSpPr/>
          <p:nvPr/>
        </p:nvSpPr>
        <p:spPr>
          <a:xfrm>
            <a:off x="812800" y="2006550"/>
            <a:ext cx="4826000" cy="830511"/>
          </a:xfrm>
          <a:prstGeom prst="roundRect">
            <a:avLst>
              <a:gd name="adj" fmla="val 12233"/>
            </a:avLst>
          </a:prstGeom>
          <a:solidFill>
            <a:srgbClr val="14301F"/>
          </a:solidFill>
          <a:ln/>
        </p:spPr>
      </p:sp>
      <p:sp>
        <p:nvSpPr>
          <p:cNvPr id="5" name="Text 3"/>
          <p:cNvSpPr/>
          <p:nvPr/>
        </p:nvSpPr>
        <p:spPr>
          <a:xfrm>
            <a:off x="1016000" y="2171650"/>
            <a:ext cx="4552188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00" kern="0" dirty="0">
                <a:solidFill>
                  <a:srgbClr val="7FD3A0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RECORDS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1016000" y="2423071"/>
            <a:ext cx="4552188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F6F5EE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[__ images in total, __ per class]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815975" y="2954536"/>
            <a:ext cx="4819650" cy="1067991"/>
          </a:xfrm>
          <a:prstGeom prst="roundRect">
            <a:avLst>
              <a:gd name="adj" fmla="val 9216"/>
            </a:avLst>
          </a:prstGeom>
          <a:solidFill>
            <a:srgbClr val="FDFCF8"/>
          </a:solidFill>
          <a:ln w="6350">
            <a:solidFill>
              <a:srgbClr val="D8DFD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22350" y="3122811"/>
            <a:ext cx="4539107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00" kern="0" dirty="0">
                <a:solidFill>
                  <a:srgbClr val="1E7A46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PREPROCESSING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1022350" y="3374231"/>
            <a:ext cx="4539107" cy="5054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90"/>
              </a:lnSpc>
              <a:buNone/>
            </a:pPr>
            <a:r>
              <a:rPr lang="en-US" sz="1350" dirty="0">
                <a:solidFill>
                  <a:srgbClr val="1B2A22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Remove bad files · resize 224×224 · RGB · normalise · augment · train / val / test split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815975" y="4143177"/>
            <a:ext cx="4819650" cy="1067991"/>
          </a:xfrm>
          <a:prstGeom prst="roundRect">
            <a:avLst>
              <a:gd name="adj" fmla="val 9216"/>
            </a:avLst>
          </a:prstGeom>
          <a:solidFill>
            <a:srgbClr val="FDFCF8"/>
          </a:solidFill>
          <a:ln w="6350">
            <a:solidFill>
              <a:srgbClr val="D8DFD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022350" y="4311452"/>
            <a:ext cx="4539107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00" kern="0" dirty="0">
                <a:solidFill>
                  <a:srgbClr val="1E7A46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EDA FINDINGS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1022350" y="4562872"/>
            <a:ext cx="4539107" cy="5054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90"/>
              </a:lnSpc>
              <a:buNone/>
            </a:pPr>
            <a:r>
              <a:rPr lang="en-US" sz="1350" dirty="0">
                <a:solidFill>
                  <a:srgbClr val="1B2A22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Trash is likely the smallest class; paper vs cardboard and glass vs plastic look alike.</a:t>
            </a:r>
            <a:endParaRPr lang="en-US" sz="135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905500" y="2019250"/>
          <a:ext cx="5473700" cy="2981325"/>
        </p:xfrm>
        <a:graphic>
          <a:graphicData uri="http://schemas.openxmlformats.org/drawingml/2006/table">
            <a:tbl>
              <a:tblPr/>
              <a:tblGrid>
                <a:gridCol w="1751584"/>
                <a:gridCol w="3722116"/>
              </a:tblGrid>
              <a:tr h="372666">
                <a:tc>
                  <a:txBody>
                    <a:bodyPr/>
                    <a:lstStyle/>
                    <a:p>
                      <a:pPr indent="0" marL="0">
                        <a:lnSpc>
                          <a:spcPts val="1890"/>
                        </a:lnSpc>
                        <a:buNone/>
                      </a:pPr>
                      <a:r>
                        <a:rPr lang="en-US" sz="1350" b="1" dirty="0">
                          <a:solidFill>
                            <a:srgbClr val="F6F5EE"/>
                          </a:solidFill>
                          <a:latin typeface="Nunito Sans" pitchFamily="34" charset="0"/>
                          <a:ea typeface="Nunito Sans" pitchFamily="34" charset="-122"/>
                          <a:cs typeface="Nunito Sans" pitchFamily="34" charset="-120"/>
                        </a:rPr>
                        <a:t>Class</a:t>
                      </a:r>
                      <a:endParaRPr lang="en-US" sz="1350" dirty="0">
                        <a:latin typeface="Nunito Sans" charset="0"/>
                        <a:ea typeface="Nunito Sans" charset="0"/>
                        <a:cs typeface="Nunito Sans" charset="0"/>
                      </a:endParaRPr>
                    </a:p>
                  </a:txBody>
                  <a:tcPr marL="60007" marR="60007" marT="60007" marB="60007" anchor="t">
                    <a:lnL w="12700" cap="flat" cmpd="sng" algn="ctr">
                      <a:solidFill>
                        <a:srgbClr val="C4C4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6B5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4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6B5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3D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90"/>
                        </a:lnSpc>
                        <a:buNone/>
                      </a:pPr>
                      <a:r>
                        <a:rPr lang="en-US" sz="1350" b="1" dirty="0">
                          <a:solidFill>
                            <a:srgbClr val="F6F5EE"/>
                          </a:solidFill>
                          <a:latin typeface="Nunito Sans" pitchFamily="34" charset="0"/>
                          <a:ea typeface="Nunito Sans" pitchFamily="34" charset="-122"/>
                          <a:cs typeface="Nunito Sans" pitchFamily="34" charset="-120"/>
                        </a:rPr>
                        <a:t>Typical items</a:t>
                      </a:r>
                      <a:endParaRPr lang="en-US" sz="1350" dirty="0">
                        <a:latin typeface="Nunito Sans" charset="0"/>
                        <a:ea typeface="Nunito Sans" charset="0"/>
                        <a:cs typeface="Nunito Sans" charset="0"/>
                      </a:endParaRPr>
                    </a:p>
                  </a:txBody>
                  <a:tcPr marL="60007" marR="60007" marT="60007" marB="60007" anchor="t">
                    <a:lnL w="12700" cap="flat" cmpd="sng" algn="ctr">
                      <a:solidFill>
                        <a:srgbClr val="B6B5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6B5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4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6B5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3DC"/>
                    </a:solidFill>
                  </a:tcPr>
                </a:tc>
              </a:tr>
              <a:tr h="372666">
                <a:tc>
                  <a:txBody>
                    <a:bodyPr/>
                    <a:lstStyle/>
                    <a:p>
                      <a:pPr indent="0" marL="0">
                        <a:lnSpc>
                          <a:spcPts val="1890"/>
                        </a:lnSpc>
                        <a:buNone/>
                      </a:pPr>
                      <a:r>
                        <a:rPr lang="en-US" sz="1350" dirty="0">
                          <a:solidFill>
                            <a:srgbClr val="1B2A22"/>
                          </a:solidFill>
                          <a:latin typeface="Nunito Sans" pitchFamily="34" charset="0"/>
                          <a:ea typeface="Nunito Sans" pitchFamily="34" charset="-122"/>
                          <a:cs typeface="Nunito Sans" pitchFamily="34" charset="-120"/>
                        </a:rPr>
                        <a:t>Plastic</a:t>
                      </a:r>
                      <a:endParaRPr lang="en-US" sz="1350" dirty="0">
                        <a:latin typeface="Nunito Sans" charset="0"/>
                        <a:ea typeface="Nunito Sans" charset="0"/>
                        <a:cs typeface="Nunito Sans" charset="0"/>
                      </a:endParaRPr>
                    </a:p>
                  </a:txBody>
                  <a:tcPr marL="60007" marR="60007" marT="60007" marB="60007" anchor="t">
                    <a:lnL w="12700" cap="flat" cmpd="sng" algn="ctr">
                      <a:solidFill>
                        <a:srgbClr val="C4C4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4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6B5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4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90"/>
                        </a:lnSpc>
                        <a:buNone/>
                      </a:pPr>
                      <a:r>
                        <a:rPr lang="en-US" sz="1350" dirty="0">
                          <a:solidFill>
                            <a:srgbClr val="1B2A22"/>
                          </a:solidFill>
                          <a:latin typeface="Nunito Sans" pitchFamily="34" charset="0"/>
                          <a:ea typeface="Nunito Sans" pitchFamily="34" charset="-122"/>
                          <a:cs typeface="Nunito Sans" pitchFamily="34" charset="-120"/>
                        </a:rPr>
                        <a:t>Bottles, containers, wrappers</a:t>
                      </a:r>
                      <a:endParaRPr lang="en-US" sz="1350" dirty="0">
                        <a:latin typeface="Nunito Sans" charset="0"/>
                        <a:ea typeface="Nunito Sans" charset="0"/>
                        <a:cs typeface="Nunito Sans" charset="0"/>
                      </a:endParaRPr>
                    </a:p>
                  </a:txBody>
                  <a:tcPr marL="60007" marR="60007" marT="60007" marB="60007" anchor="t">
                    <a:lnL w="12700" cap="flat" cmpd="sng" algn="ctr">
                      <a:solidFill>
                        <a:srgbClr val="C4C4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4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6B5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4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72666">
                <a:tc>
                  <a:txBody>
                    <a:bodyPr/>
                    <a:lstStyle/>
                    <a:p>
                      <a:pPr indent="0" marL="0">
                        <a:lnSpc>
                          <a:spcPts val="1890"/>
                        </a:lnSpc>
                        <a:buNone/>
                      </a:pPr>
                      <a:r>
                        <a:rPr lang="en-US" sz="1350" dirty="0">
                          <a:solidFill>
                            <a:srgbClr val="1B2A22"/>
                          </a:solidFill>
                          <a:latin typeface="Nunito Sans" pitchFamily="34" charset="0"/>
                          <a:ea typeface="Nunito Sans" pitchFamily="34" charset="-122"/>
                          <a:cs typeface="Nunito Sans" pitchFamily="34" charset="-120"/>
                        </a:rPr>
                        <a:t>Paper</a:t>
                      </a:r>
                      <a:endParaRPr lang="en-US" sz="1350" dirty="0">
                        <a:latin typeface="Nunito Sans" charset="0"/>
                        <a:ea typeface="Nunito Sans" charset="0"/>
                        <a:cs typeface="Nunito Sans" charset="0"/>
                      </a:endParaRPr>
                    </a:p>
                  </a:txBody>
                  <a:tcPr marL="60007" marR="60007" marT="60007" marB="60007" anchor="t">
                    <a:lnL w="12700" cap="flat" cmpd="sng" algn="ctr">
                      <a:solidFill>
                        <a:srgbClr val="C4C4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4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4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4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90"/>
                        </a:lnSpc>
                        <a:buNone/>
                      </a:pPr>
                      <a:r>
                        <a:rPr lang="en-US" sz="1350" dirty="0">
                          <a:solidFill>
                            <a:srgbClr val="1B2A22"/>
                          </a:solidFill>
                          <a:latin typeface="Nunito Sans" pitchFamily="34" charset="0"/>
                          <a:ea typeface="Nunito Sans" pitchFamily="34" charset="-122"/>
                          <a:cs typeface="Nunito Sans" pitchFamily="34" charset="-120"/>
                        </a:rPr>
                        <a:t>Sheets, newspapers, crumpled paper</a:t>
                      </a:r>
                      <a:endParaRPr lang="en-US" sz="1350" dirty="0">
                        <a:latin typeface="Nunito Sans" charset="0"/>
                        <a:ea typeface="Nunito Sans" charset="0"/>
                        <a:cs typeface="Nunito Sans" charset="0"/>
                      </a:endParaRPr>
                    </a:p>
                  </a:txBody>
                  <a:tcPr marL="60007" marR="60007" marT="60007" marB="60007" anchor="t">
                    <a:lnL w="12700" cap="flat" cmpd="sng" algn="ctr">
                      <a:solidFill>
                        <a:srgbClr val="C4C4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4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4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4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72666">
                <a:tc>
                  <a:txBody>
                    <a:bodyPr/>
                    <a:lstStyle/>
                    <a:p>
                      <a:pPr indent="0" marL="0">
                        <a:lnSpc>
                          <a:spcPts val="1890"/>
                        </a:lnSpc>
                        <a:buNone/>
                      </a:pPr>
                      <a:r>
                        <a:rPr lang="en-US" sz="1350" dirty="0">
                          <a:solidFill>
                            <a:srgbClr val="1B2A22"/>
                          </a:solidFill>
                          <a:latin typeface="Nunito Sans" pitchFamily="34" charset="0"/>
                          <a:ea typeface="Nunito Sans" pitchFamily="34" charset="-122"/>
                          <a:cs typeface="Nunito Sans" pitchFamily="34" charset="-120"/>
                        </a:rPr>
                        <a:t>Cardboard</a:t>
                      </a:r>
                      <a:endParaRPr lang="en-US" sz="1350" dirty="0">
                        <a:latin typeface="Nunito Sans" charset="0"/>
                        <a:ea typeface="Nunito Sans" charset="0"/>
                        <a:cs typeface="Nunito Sans" charset="0"/>
                      </a:endParaRPr>
                    </a:p>
                  </a:txBody>
                  <a:tcPr marL="60007" marR="60007" marT="60007" marB="60007" anchor="t">
                    <a:lnL w="12700" cap="flat" cmpd="sng" algn="ctr">
                      <a:solidFill>
                        <a:srgbClr val="C4C4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4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4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4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90"/>
                        </a:lnSpc>
                        <a:buNone/>
                      </a:pPr>
                      <a:r>
                        <a:rPr lang="en-US" sz="1350" dirty="0">
                          <a:solidFill>
                            <a:srgbClr val="1B2A22"/>
                          </a:solidFill>
                          <a:latin typeface="Nunito Sans" pitchFamily="34" charset="0"/>
                          <a:ea typeface="Nunito Sans" pitchFamily="34" charset="-122"/>
                          <a:cs typeface="Nunito Sans" pitchFamily="34" charset="-120"/>
                        </a:rPr>
                        <a:t>Boxes and packaging</a:t>
                      </a:r>
                      <a:endParaRPr lang="en-US" sz="1350" dirty="0">
                        <a:latin typeface="Nunito Sans" charset="0"/>
                        <a:ea typeface="Nunito Sans" charset="0"/>
                        <a:cs typeface="Nunito Sans" charset="0"/>
                      </a:endParaRPr>
                    </a:p>
                  </a:txBody>
                  <a:tcPr marL="60007" marR="60007" marT="60007" marB="60007" anchor="t">
                    <a:lnL w="12700" cap="flat" cmpd="sng" algn="ctr">
                      <a:solidFill>
                        <a:srgbClr val="C4C4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4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4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4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72666">
                <a:tc>
                  <a:txBody>
                    <a:bodyPr/>
                    <a:lstStyle/>
                    <a:p>
                      <a:pPr indent="0" marL="0">
                        <a:lnSpc>
                          <a:spcPts val="1890"/>
                        </a:lnSpc>
                        <a:buNone/>
                      </a:pPr>
                      <a:r>
                        <a:rPr lang="en-US" sz="1350" dirty="0">
                          <a:solidFill>
                            <a:srgbClr val="1B2A22"/>
                          </a:solidFill>
                          <a:latin typeface="Nunito Sans" pitchFamily="34" charset="0"/>
                          <a:ea typeface="Nunito Sans" pitchFamily="34" charset="-122"/>
                          <a:cs typeface="Nunito Sans" pitchFamily="34" charset="-120"/>
                        </a:rPr>
                        <a:t>Glass</a:t>
                      </a:r>
                      <a:endParaRPr lang="en-US" sz="1350" dirty="0">
                        <a:latin typeface="Nunito Sans" charset="0"/>
                        <a:ea typeface="Nunito Sans" charset="0"/>
                        <a:cs typeface="Nunito Sans" charset="0"/>
                      </a:endParaRPr>
                    </a:p>
                  </a:txBody>
                  <a:tcPr marL="60007" marR="60007" marT="60007" marB="60007" anchor="t">
                    <a:lnL w="12700" cap="flat" cmpd="sng" algn="ctr">
                      <a:solidFill>
                        <a:srgbClr val="C4C4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4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4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4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90"/>
                        </a:lnSpc>
                        <a:buNone/>
                      </a:pPr>
                      <a:r>
                        <a:rPr lang="en-US" sz="1350" dirty="0">
                          <a:solidFill>
                            <a:srgbClr val="1B2A22"/>
                          </a:solidFill>
                          <a:latin typeface="Nunito Sans" pitchFamily="34" charset="0"/>
                          <a:ea typeface="Nunito Sans" pitchFamily="34" charset="-122"/>
                          <a:cs typeface="Nunito Sans" pitchFamily="34" charset="-120"/>
                        </a:rPr>
                        <a:t>Bottles and jars</a:t>
                      </a:r>
                      <a:endParaRPr lang="en-US" sz="1350" dirty="0">
                        <a:latin typeface="Nunito Sans" charset="0"/>
                        <a:ea typeface="Nunito Sans" charset="0"/>
                        <a:cs typeface="Nunito Sans" charset="0"/>
                      </a:endParaRPr>
                    </a:p>
                  </a:txBody>
                  <a:tcPr marL="60007" marR="60007" marT="60007" marB="60007" anchor="t">
                    <a:lnL w="12700" cap="flat" cmpd="sng" algn="ctr">
                      <a:solidFill>
                        <a:srgbClr val="C4C4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4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4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4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72666">
                <a:tc>
                  <a:txBody>
                    <a:bodyPr/>
                    <a:lstStyle/>
                    <a:p>
                      <a:pPr indent="0" marL="0">
                        <a:lnSpc>
                          <a:spcPts val="1890"/>
                        </a:lnSpc>
                        <a:buNone/>
                      </a:pPr>
                      <a:r>
                        <a:rPr lang="en-US" sz="1350" dirty="0">
                          <a:solidFill>
                            <a:srgbClr val="1B2A22"/>
                          </a:solidFill>
                          <a:latin typeface="Nunito Sans" pitchFamily="34" charset="0"/>
                          <a:ea typeface="Nunito Sans" pitchFamily="34" charset="-122"/>
                          <a:cs typeface="Nunito Sans" pitchFamily="34" charset="-120"/>
                        </a:rPr>
                        <a:t>Metal</a:t>
                      </a:r>
                      <a:endParaRPr lang="en-US" sz="1350" dirty="0">
                        <a:latin typeface="Nunito Sans" charset="0"/>
                        <a:ea typeface="Nunito Sans" charset="0"/>
                        <a:cs typeface="Nunito Sans" charset="0"/>
                      </a:endParaRPr>
                    </a:p>
                  </a:txBody>
                  <a:tcPr marL="60007" marR="60007" marT="60007" marB="60007" anchor="t">
                    <a:lnL w="12700" cap="flat" cmpd="sng" algn="ctr">
                      <a:solidFill>
                        <a:srgbClr val="C4C4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4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4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4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90"/>
                        </a:lnSpc>
                        <a:buNone/>
                      </a:pPr>
                      <a:r>
                        <a:rPr lang="en-US" sz="1350" dirty="0">
                          <a:solidFill>
                            <a:srgbClr val="1B2A22"/>
                          </a:solidFill>
                          <a:latin typeface="Nunito Sans" pitchFamily="34" charset="0"/>
                          <a:ea typeface="Nunito Sans" pitchFamily="34" charset="-122"/>
                          <a:cs typeface="Nunito Sans" pitchFamily="34" charset="-120"/>
                        </a:rPr>
                        <a:t>Cans, tins, metal pieces</a:t>
                      </a:r>
                      <a:endParaRPr lang="en-US" sz="1350" dirty="0">
                        <a:latin typeface="Nunito Sans" charset="0"/>
                        <a:ea typeface="Nunito Sans" charset="0"/>
                        <a:cs typeface="Nunito Sans" charset="0"/>
                      </a:endParaRPr>
                    </a:p>
                  </a:txBody>
                  <a:tcPr marL="60007" marR="60007" marT="60007" marB="60007" anchor="t">
                    <a:lnL w="12700" cap="flat" cmpd="sng" algn="ctr">
                      <a:solidFill>
                        <a:srgbClr val="C4C4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4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4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4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72666">
                <a:tc>
                  <a:txBody>
                    <a:bodyPr/>
                    <a:lstStyle/>
                    <a:p>
                      <a:pPr indent="0" marL="0">
                        <a:lnSpc>
                          <a:spcPts val="1890"/>
                        </a:lnSpc>
                        <a:buNone/>
                      </a:pPr>
                      <a:r>
                        <a:rPr lang="en-US" sz="1350" dirty="0">
                          <a:solidFill>
                            <a:srgbClr val="1B2A22"/>
                          </a:solidFill>
                          <a:latin typeface="Nunito Sans" pitchFamily="34" charset="0"/>
                          <a:ea typeface="Nunito Sans" pitchFamily="34" charset="-122"/>
                          <a:cs typeface="Nunito Sans" pitchFamily="34" charset="-120"/>
                        </a:rPr>
                        <a:t>Organic Waste</a:t>
                      </a:r>
                      <a:endParaRPr lang="en-US" sz="1350" dirty="0">
                        <a:latin typeface="Nunito Sans" charset="0"/>
                        <a:ea typeface="Nunito Sans" charset="0"/>
                        <a:cs typeface="Nunito Sans" charset="0"/>
                      </a:endParaRPr>
                    </a:p>
                  </a:txBody>
                  <a:tcPr marL="60007" marR="60007" marT="60007" marB="60007" anchor="t">
                    <a:lnL w="12700" cap="flat" cmpd="sng" algn="ctr">
                      <a:solidFill>
                        <a:srgbClr val="C4C4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4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4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4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90"/>
                        </a:lnSpc>
                        <a:buNone/>
                      </a:pPr>
                      <a:r>
                        <a:rPr lang="en-US" sz="1350" dirty="0">
                          <a:solidFill>
                            <a:srgbClr val="1B2A22"/>
                          </a:solidFill>
                          <a:latin typeface="Nunito Sans" pitchFamily="34" charset="0"/>
                          <a:ea typeface="Nunito Sans" pitchFamily="34" charset="-122"/>
                          <a:cs typeface="Nunito Sans" pitchFamily="34" charset="-120"/>
                        </a:rPr>
                        <a:t>Food and vegetable waste</a:t>
                      </a:r>
                      <a:endParaRPr lang="en-US" sz="1350" dirty="0">
                        <a:latin typeface="Nunito Sans" charset="0"/>
                        <a:ea typeface="Nunito Sans" charset="0"/>
                        <a:cs typeface="Nunito Sans" charset="0"/>
                      </a:endParaRPr>
                    </a:p>
                  </a:txBody>
                  <a:tcPr marL="60007" marR="60007" marT="60007" marB="60007" anchor="t">
                    <a:lnL w="12700" cap="flat" cmpd="sng" algn="ctr">
                      <a:solidFill>
                        <a:srgbClr val="C4C4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4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4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4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72666">
                <a:tc>
                  <a:txBody>
                    <a:bodyPr/>
                    <a:lstStyle/>
                    <a:p>
                      <a:pPr indent="0" marL="0">
                        <a:lnSpc>
                          <a:spcPts val="1890"/>
                        </a:lnSpc>
                        <a:buNone/>
                      </a:pPr>
                      <a:r>
                        <a:rPr lang="en-US" sz="1350" dirty="0">
                          <a:solidFill>
                            <a:srgbClr val="1B2A22"/>
                          </a:solidFill>
                          <a:latin typeface="Nunito Sans" pitchFamily="34" charset="0"/>
                          <a:ea typeface="Nunito Sans" pitchFamily="34" charset="-122"/>
                          <a:cs typeface="Nunito Sans" pitchFamily="34" charset="-120"/>
                        </a:rPr>
                        <a:t>Trash</a:t>
                      </a:r>
                      <a:endParaRPr lang="en-US" sz="1350" dirty="0">
                        <a:latin typeface="Nunito Sans" charset="0"/>
                        <a:ea typeface="Nunito Sans" charset="0"/>
                        <a:cs typeface="Nunito Sans" charset="0"/>
                      </a:endParaRPr>
                    </a:p>
                  </a:txBody>
                  <a:tcPr marL="60007" marR="60007" marT="60007" marB="60007" anchor="t">
                    <a:lnL w="12700" cap="flat" cmpd="sng" algn="ctr">
                      <a:solidFill>
                        <a:srgbClr val="C4C4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4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4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4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90"/>
                        </a:lnSpc>
                        <a:buNone/>
                      </a:pPr>
                      <a:r>
                        <a:rPr lang="en-US" sz="1350" dirty="0">
                          <a:solidFill>
                            <a:srgbClr val="1B2A22"/>
                          </a:solidFill>
                          <a:latin typeface="Nunito Sans" pitchFamily="34" charset="0"/>
                          <a:ea typeface="Nunito Sans" pitchFamily="34" charset="-122"/>
                          <a:cs typeface="Nunito Sans" pitchFamily="34" charset="-120"/>
                        </a:rPr>
                        <a:t>Non-recyclable general waste</a:t>
                      </a:r>
                      <a:endParaRPr lang="en-US" sz="1350" dirty="0">
                        <a:latin typeface="Nunito Sans" charset="0"/>
                        <a:ea typeface="Nunito Sans" charset="0"/>
                        <a:cs typeface="Nunito Sans" charset="0"/>
                      </a:endParaRPr>
                    </a:p>
                  </a:txBody>
                  <a:tcPr marL="60007" marR="60007" marT="60007" marB="60007" anchor="t">
                    <a:lnL w="12700" cap="flat" cmpd="sng" algn="ctr">
                      <a:solidFill>
                        <a:srgbClr val="C4C4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4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4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4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4" name="Text 11"/>
          <p:cNvSpPr/>
          <p:nvPr/>
        </p:nvSpPr>
        <p:spPr>
          <a:xfrm>
            <a:off x="812800" y="6238280"/>
            <a:ext cx="588645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C6860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Waste Classification · CNN &amp; Transfer Learning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10693400" y="6238280"/>
            <a:ext cx="6858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C6860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13</a:t>
            </a:r>
            <a:endParaRPr lang="en-US" sz="12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6F5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6679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5060"/>
              </a:lnSpc>
              <a:buNone/>
            </a:pPr>
            <a:r>
              <a:rPr lang="en-US" sz="4600" b="1" dirty="0">
                <a:solidFill>
                  <a:srgbClr val="1E7A46"/>
                </a:solidFill>
                <a:latin typeface="Domine" pitchFamily="18" charset="0"/>
                <a:ea typeface="Domine" pitchFamily="18" charset="-122"/>
                <a:cs typeface="Domine" pitchFamily="18" charset="-120"/>
              </a:rPr>
              <a:t>Algorithm</a:t>
            </a:r>
            <a:endParaRPr lang="en-US" sz="4600" dirty="0"/>
          </a:p>
        </p:txBody>
      </p:sp>
      <p:sp>
        <p:nvSpPr>
          <p:cNvPr id="3" name="Text 1"/>
          <p:cNvSpPr/>
          <p:nvPr/>
        </p:nvSpPr>
        <p:spPr>
          <a:xfrm>
            <a:off x="812800" y="1518890"/>
            <a:ext cx="10883392" cy="2844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040"/>
              </a:lnSpc>
              <a:buNone/>
            </a:pPr>
            <a:r>
              <a:rPr lang="en-US" sz="1700" b="1" dirty="0">
                <a:solidFill>
                  <a:srgbClr val="14301F"/>
                </a:solidFill>
                <a:latin typeface="Domine" pitchFamily="18" charset="0"/>
                <a:ea typeface="Domine" pitchFamily="18" charset="-122"/>
                <a:cs typeface="Domine" pitchFamily="18" charset="-120"/>
              </a:rPr>
              <a:t>CNN with transfer learning</a:t>
            </a:r>
            <a:endParaRPr lang="en-US" sz="1700" dirty="0"/>
          </a:p>
        </p:txBody>
      </p:sp>
      <p:sp>
        <p:nvSpPr>
          <p:cNvPr id="4" name="Text 2"/>
          <p:cNvSpPr/>
          <p:nvPr/>
        </p:nvSpPr>
        <p:spPr>
          <a:xfrm>
            <a:off x="815975" y="2009725"/>
            <a:ext cx="1441450" cy="661591"/>
          </a:xfrm>
          <a:prstGeom prst="roundRect">
            <a:avLst>
              <a:gd name="adj" fmla="val 11038"/>
            </a:avLst>
          </a:prstGeom>
          <a:solidFill>
            <a:srgbClr val="FDFCF8"/>
          </a:solidFill>
          <a:ln w="6350">
            <a:solidFill>
              <a:srgbClr val="D8DFD3"/>
            </a:solidFill>
            <a:prstDash val="solid"/>
          </a:ln>
        </p:spPr>
        <p:txBody>
          <a:bodyPr wrap="square" lIns="45287" tIns="96087" rIns="45287" bIns="96087" rtlCol="0" anchor="t">
            <a:normAutofit/>
          </a:bodyPr>
          <a:lstStyle/>
          <a:p>
            <a:pPr algn="ctr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14301F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Input 224×224×3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2339975" y="2009725"/>
            <a:ext cx="1441450" cy="661591"/>
          </a:xfrm>
          <a:prstGeom prst="roundRect">
            <a:avLst>
              <a:gd name="adj" fmla="val 11038"/>
            </a:avLst>
          </a:prstGeom>
          <a:solidFill>
            <a:srgbClr val="FDFCF8"/>
          </a:solidFill>
          <a:ln w="6350">
            <a:solidFill>
              <a:srgbClr val="D8DFD3"/>
            </a:solidFill>
            <a:prstDash val="solid"/>
          </a:ln>
        </p:spPr>
        <p:txBody>
          <a:bodyPr wrap="square" lIns="45287" tIns="96087" rIns="45287" bIns="70687" rtlCol="0" anchor="t">
            <a:normAutofit/>
          </a:bodyPr>
          <a:lstStyle/>
          <a:p>
            <a:pPr algn="ctr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14301F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Augment + preprocess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3860800" y="2006550"/>
            <a:ext cx="1435100" cy="667941"/>
          </a:xfrm>
          <a:prstGeom prst="roundRect">
            <a:avLst>
              <a:gd name="adj" fmla="val 11408"/>
            </a:avLst>
          </a:prstGeom>
          <a:solidFill>
            <a:srgbClr val="14301F"/>
          </a:solidFill>
          <a:ln/>
        </p:spPr>
        <p:txBody>
          <a:bodyPr wrap="square" lIns="41182" tIns="91982" rIns="41182" bIns="79282" rtlCol="0" anchor="t">
            <a:normAutofit/>
          </a:bodyPr>
          <a:lstStyle/>
          <a:p>
            <a:pPr algn="ctr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F6F5EE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Pre-trained backbone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375275" y="2009725"/>
            <a:ext cx="1441450" cy="661591"/>
          </a:xfrm>
          <a:prstGeom prst="roundRect">
            <a:avLst>
              <a:gd name="adj" fmla="val 11038"/>
            </a:avLst>
          </a:prstGeom>
          <a:solidFill>
            <a:srgbClr val="FDFCF8"/>
          </a:solidFill>
          <a:ln w="6350">
            <a:solidFill>
              <a:srgbClr val="D8DFD3"/>
            </a:solidFill>
            <a:prstDash val="solid"/>
          </a:ln>
        </p:spPr>
        <p:txBody>
          <a:bodyPr wrap="square" lIns="45287" tIns="96087" rIns="45287" bIns="70687" rtlCol="0" anchor="t">
            <a:normAutofit/>
          </a:bodyPr>
          <a:lstStyle/>
          <a:p>
            <a:pPr algn="ctr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14301F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Global avg pooling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6899275" y="2009725"/>
            <a:ext cx="1441450" cy="661591"/>
          </a:xfrm>
          <a:prstGeom prst="roundRect">
            <a:avLst>
              <a:gd name="adj" fmla="val 11038"/>
            </a:avLst>
          </a:prstGeom>
          <a:solidFill>
            <a:srgbClr val="FDFCF8"/>
          </a:solidFill>
          <a:ln w="6350">
            <a:solidFill>
              <a:srgbClr val="D8DFD3"/>
            </a:solidFill>
            <a:prstDash val="solid"/>
          </a:ln>
        </p:spPr>
        <p:txBody>
          <a:bodyPr wrap="square" lIns="45287" tIns="96087" rIns="45287" bIns="96087" rtlCol="0" anchor="t">
            <a:normAutofit/>
          </a:bodyPr>
          <a:lstStyle/>
          <a:p>
            <a:pPr algn="ctr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14301F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Dropout 0.3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8423275" y="2009725"/>
            <a:ext cx="1441450" cy="661591"/>
          </a:xfrm>
          <a:prstGeom prst="roundRect">
            <a:avLst>
              <a:gd name="adj" fmla="val 11038"/>
            </a:avLst>
          </a:prstGeom>
          <a:solidFill>
            <a:srgbClr val="FDFCF8"/>
          </a:solidFill>
          <a:ln w="6350">
            <a:solidFill>
              <a:srgbClr val="D8DFD3"/>
            </a:solidFill>
            <a:prstDash val="solid"/>
          </a:ln>
        </p:spPr>
        <p:txBody>
          <a:bodyPr wrap="square" lIns="45287" tIns="96087" rIns="45287" bIns="96087" rtlCol="0" anchor="t">
            <a:normAutofit/>
          </a:bodyPr>
          <a:lstStyle/>
          <a:p>
            <a:pPr algn="ctr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14301F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Dense 128, ReLU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9944100" y="2006550"/>
            <a:ext cx="1435100" cy="667941"/>
          </a:xfrm>
          <a:prstGeom prst="roundRect">
            <a:avLst>
              <a:gd name="adj" fmla="val 11408"/>
            </a:avLst>
          </a:prstGeom>
          <a:solidFill>
            <a:srgbClr val="1E7A46"/>
          </a:solidFill>
          <a:ln/>
        </p:spPr>
        <p:txBody>
          <a:bodyPr wrap="square" lIns="41182" tIns="91982" rIns="41182" bIns="79282" rtlCol="0" anchor="t">
            <a:normAutofit/>
          </a:bodyPr>
          <a:lstStyle/>
          <a:p>
            <a:pPr algn="ctr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Softmax, 7 classes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815975" y="2906266"/>
            <a:ext cx="3380284" cy="1478211"/>
          </a:xfrm>
          <a:prstGeom prst="roundRect">
            <a:avLst>
              <a:gd name="adj" fmla="val 6658"/>
            </a:avLst>
          </a:prstGeom>
          <a:solidFill>
            <a:srgbClr val="FDFCF8"/>
          </a:solidFill>
          <a:ln w="6350">
            <a:solidFill>
              <a:srgbClr val="D8DFD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035050" y="3125341"/>
            <a:ext cx="3030398" cy="2692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14301F"/>
                </a:solidFill>
                <a:latin typeface="Domine" pitchFamily="18" charset="0"/>
                <a:ea typeface="Domine" pitchFamily="18" charset="-122"/>
                <a:cs typeface="Domine" pitchFamily="18" charset="-120"/>
              </a:rPr>
              <a:t>Why a CNN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035050" y="3445371"/>
            <a:ext cx="3030398" cy="7454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90"/>
              </a:lnSpc>
              <a:buNone/>
            </a:pPr>
            <a:r>
              <a:rPr lang="en-US" sz="1350" dirty="0">
                <a:solidFill>
                  <a:srgbClr val="46544B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Learns edges, shapes and textures automatically, so no manual feature engineering.</a:t>
            </a:r>
            <a:endParaRPr lang="en-US" sz="1350" dirty="0"/>
          </a:p>
        </p:txBody>
      </p:sp>
      <p:sp>
        <p:nvSpPr>
          <p:cNvPr id="14" name="Shape 12"/>
          <p:cNvSpPr/>
          <p:nvPr/>
        </p:nvSpPr>
        <p:spPr>
          <a:xfrm>
            <a:off x="4405809" y="2906266"/>
            <a:ext cx="3380333" cy="1478211"/>
          </a:xfrm>
          <a:prstGeom prst="roundRect">
            <a:avLst>
              <a:gd name="adj" fmla="val 6658"/>
            </a:avLst>
          </a:prstGeom>
          <a:solidFill>
            <a:srgbClr val="FDFCF8"/>
          </a:solidFill>
          <a:ln w="6350">
            <a:solidFill>
              <a:srgbClr val="D8DFD3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624884" y="3125341"/>
            <a:ext cx="3030449" cy="2692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14301F"/>
                </a:solidFill>
                <a:latin typeface="Domine" pitchFamily="18" charset="0"/>
                <a:ea typeface="Domine" pitchFamily="18" charset="-122"/>
                <a:cs typeface="Domine" pitchFamily="18" charset="-120"/>
              </a:rPr>
              <a:t>Why transfer learning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4624884" y="3445371"/>
            <a:ext cx="3030449" cy="7454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90"/>
              </a:lnSpc>
              <a:buNone/>
            </a:pPr>
            <a:r>
              <a:rPr lang="en-US" sz="1350" dirty="0">
                <a:solidFill>
                  <a:srgbClr val="46544B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Reuses ImageNet features: less data, shorter training, better accuracy on a small set.</a:t>
            </a:r>
            <a:endParaRPr lang="en-US" sz="1350" dirty="0"/>
          </a:p>
        </p:txBody>
      </p:sp>
      <p:sp>
        <p:nvSpPr>
          <p:cNvPr id="17" name="Shape 15"/>
          <p:cNvSpPr/>
          <p:nvPr/>
        </p:nvSpPr>
        <p:spPr>
          <a:xfrm>
            <a:off x="7995692" y="2906266"/>
            <a:ext cx="3380333" cy="1478211"/>
          </a:xfrm>
          <a:prstGeom prst="roundRect">
            <a:avLst>
              <a:gd name="adj" fmla="val 6658"/>
            </a:avLst>
          </a:prstGeom>
          <a:solidFill>
            <a:srgbClr val="FDFCF8"/>
          </a:solidFill>
          <a:ln w="6350">
            <a:solidFill>
              <a:srgbClr val="D8DFD3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214767" y="3125341"/>
            <a:ext cx="3030449" cy="2692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14301F"/>
                </a:solidFill>
                <a:latin typeface="Domine" pitchFamily="18" charset="0"/>
                <a:ea typeface="Domine" pitchFamily="18" charset="-122"/>
                <a:cs typeface="Domine" pitchFamily="18" charset="-120"/>
              </a:rPr>
              <a:t>Why three backbones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8214767" y="3445371"/>
            <a:ext cx="3030449" cy="5054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90"/>
              </a:lnSpc>
              <a:buNone/>
            </a:pPr>
            <a:r>
              <a:rPr lang="en-US" sz="1350" dirty="0">
                <a:solidFill>
                  <a:srgbClr val="46544B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The final model is picked from test results, not assumption.</a:t>
            </a:r>
            <a:endParaRPr lang="en-US" sz="1350" dirty="0"/>
          </a:p>
        </p:txBody>
      </p:sp>
      <p:sp>
        <p:nvSpPr>
          <p:cNvPr id="20" name="Text 18"/>
          <p:cNvSpPr/>
          <p:nvPr/>
        </p:nvSpPr>
        <p:spPr>
          <a:xfrm>
            <a:off x="812800" y="6238280"/>
            <a:ext cx="588645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C6860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Waste Classification · CNN &amp; Transfer Learning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10693400" y="6238280"/>
            <a:ext cx="6858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C6860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14</a:t>
            </a:r>
            <a:endParaRPr lang="en-US" sz="12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6F5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6679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5060"/>
              </a:lnSpc>
              <a:buNone/>
            </a:pPr>
            <a:r>
              <a:rPr lang="en-US" sz="4600" b="1" dirty="0">
                <a:solidFill>
                  <a:srgbClr val="1E7A46"/>
                </a:solidFill>
                <a:latin typeface="Domine" pitchFamily="18" charset="0"/>
                <a:ea typeface="Domine" pitchFamily="18" charset="-122"/>
                <a:cs typeface="Domine" pitchFamily="18" charset="-120"/>
              </a:rPr>
              <a:t>Model comparison</a:t>
            </a:r>
            <a:endParaRPr lang="en-US" sz="4600" dirty="0"/>
          </a:p>
        </p:txBody>
      </p:sp>
      <p:sp>
        <p:nvSpPr>
          <p:cNvPr id="3" name="Text 1"/>
          <p:cNvSpPr/>
          <p:nvPr/>
        </p:nvSpPr>
        <p:spPr>
          <a:xfrm>
            <a:off x="812800" y="1518890"/>
            <a:ext cx="10883392" cy="2844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040"/>
              </a:lnSpc>
              <a:buNone/>
            </a:pPr>
            <a:r>
              <a:rPr lang="en-US" sz="1700" b="1" dirty="0">
                <a:solidFill>
                  <a:srgbClr val="14301F"/>
                </a:solidFill>
                <a:latin typeface="Domine" pitchFamily="18" charset="0"/>
                <a:ea typeface="Domine" pitchFamily="18" charset="-122"/>
                <a:cs typeface="Domine" pitchFamily="18" charset="-120"/>
              </a:rPr>
              <a:t>Three pre-trained backbones and key parameters</a:t>
            </a:r>
            <a:endParaRPr lang="en-US" sz="17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25500" y="2019250"/>
          <a:ext cx="10553700" cy="1490663"/>
        </p:xfrm>
        <a:graphic>
          <a:graphicData uri="http://schemas.openxmlformats.org/drawingml/2006/table">
            <a:tbl>
              <a:tblPr/>
              <a:tblGrid>
                <a:gridCol w="2321814"/>
                <a:gridCol w="5276850"/>
                <a:gridCol w="2955036"/>
              </a:tblGrid>
              <a:tr h="372666">
                <a:tc>
                  <a:txBody>
                    <a:bodyPr/>
                    <a:lstStyle/>
                    <a:p>
                      <a:pPr indent="0" marL="0">
                        <a:lnSpc>
                          <a:spcPts val="1890"/>
                        </a:lnSpc>
                        <a:buNone/>
                      </a:pPr>
                      <a:r>
                        <a:rPr lang="en-US" sz="1350" b="1" dirty="0">
                          <a:solidFill>
                            <a:srgbClr val="F6F5EE"/>
                          </a:solidFill>
                          <a:latin typeface="Nunito Sans" pitchFamily="34" charset="0"/>
                          <a:ea typeface="Nunito Sans" pitchFamily="34" charset="-122"/>
                          <a:cs typeface="Nunito Sans" pitchFamily="34" charset="-120"/>
                        </a:rPr>
                        <a:t>Model</a:t>
                      </a:r>
                      <a:endParaRPr lang="en-US" sz="1350" dirty="0">
                        <a:latin typeface="Nunito Sans" charset="0"/>
                        <a:ea typeface="Nunito Sans" charset="0"/>
                        <a:cs typeface="Nunito Sans" charset="0"/>
                      </a:endParaRPr>
                    </a:p>
                  </a:txBody>
                  <a:tcPr marL="60007" marR="60007" marT="60007" marB="60007" anchor="t">
                    <a:lnL w="12700" cap="flat" cmpd="sng" algn="ctr">
                      <a:solidFill>
                        <a:srgbClr val="C4C4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6B5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4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6B5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3D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90"/>
                        </a:lnSpc>
                        <a:buNone/>
                      </a:pPr>
                      <a:r>
                        <a:rPr lang="en-US" sz="1350" b="1" dirty="0">
                          <a:solidFill>
                            <a:srgbClr val="F6F5EE"/>
                          </a:solidFill>
                          <a:latin typeface="Nunito Sans" pitchFamily="34" charset="0"/>
                          <a:ea typeface="Nunito Sans" pitchFamily="34" charset="-122"/>
                          <a:cs typeface="Nunito Sans" pitchFamily="34" charset="-120"/>
                        </a:rPr>
                        <a:t>Key idea</a:t>
                      </a:r>
                      <a:endParaRPr lang="en-US" sz="1350" dirty="0">
                        <a:latin typeface="Nunito Sans" charset="0"/>
                        <a:ea typeface="Nunito Sans" charset="0"/>
                        <a:cs typeface="Nunito Sans" charset="0"/>
                      </a:endParaRPr>
                    </a:p>
                  </a:txBody>
                  <a:tcPr marL="60007" marR="60007" marT="60007" marB="60007" anchor="t">
                    <a:lnL w="12700" cap="flat" cmpd="sng" algn="ctr">
                      <a:solidFill>
                        <a:srgbClr val="B6B5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6B5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4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6B5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3D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90"/>
                        </a:lnSpc>
                        <a:buNone/>
                      </a:pPr>
                      <a:r>
                        <a:rPr lang="en-US" sz="1350" b="1" dirty="0">
                          <a:solidFill>
                            <a:srgbClr val="F6F5EE"/>
                          </a:solidFill>
                          <a:latin typeface="Nunito Sans" pitchFamily="34" charset="0"/>
                          <a:ea typeface="Nunito Sans" pitchFamily="34" charset="-122"/>
                          <a:cs typeface="Nunito Sans" pitchFamily="34" charset="-120"/>
                        </a:rPr>
                        <a:t>Parameters</a:t>
                      </a:r>
                      <a:endParaRPr lang="en-US" sz="1350" dirty="0">
                        <a:latin typeface="Nunito Sans" charset="0"/>
                        <a:ea typeface="Nunito Sans" charset="0"/>
                        <a:cs typeface="Nunito Sans" charset="0"/>
                      </a:endParaRPr>
                    </a:p>
                  </a:txBody>
                  <a:tcPr marL="60007" marR="60007" marT="60007" marB="60007" anchor="t">
                    <a:lnL w="12700" cap="flat" cmpd="sng" algn="ctr">
                      <a:solidFill>
                        <a:srgbClr val="B6B5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6B5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4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6B5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3DC"/>
                    </a:solidFill>
                  </a:tcPr>
                </a:tc>
              </a:tr>
              <a:tr h="372666">
                <a:tc>
                  <a:txBody>
                    <a:bodyPr/>
                    <a:lstStyle/>
                    <a:p>
                      <a:pPr indent="0" marL="0">
                        <a:lnSpc>
                          <a:spcPts val="1890"/>
                        </a:lnSpc>
                        <a:buNone/>
                      </a:pPr>
                      <a:r>
                        <a:rPr lang="en-US" sz="1350" dirty="0">
                          <a:solidFill>
                            <a:srgbClr val="1B2A22"/>
                          </a:solidFill>
                          <a:latin typeface="Nunito Sans" pitchFamily="34" charset="0"/>
                          <a:ea typeface="Nunito Sans" pitchFamily="34" charset="-122"/>
                          <a:cs typeface="Nunito Sans" pitchFamily="34" charset="-120"/>
                        </a:rPr>
                        <a:t>MobileNetV2</a:t>
                      </a:r>
                      <a:endParaRPr lang="en-US" sz="1350" dirty="0">
                        <a:latin typeface="Nunito Sans" charset="0"/>
                        <a:ea typeface="Nunito Sans" charset="0"/>
                        <a:cs typeface="Nunito Sans" charset="0"/>
                      </a:endParaRPr>
                    </a:p>
                  </a:txBody>
                  <a:tcPr marL="60007" marR="60007" marT="60007" marB="60007" anchor="t">
                    <a:lnL w="12700" cap="flat" cmpd="sng" algn="ctr">
                      <a:solidFill>
                        <a:srgbClr val="C4C4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4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6B5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4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90"/>
                        </a:lnSpc>
                        <a:buNone/>
                      </a:pPr>
                      <a:r>
                        <a:rPr lang="en-US" sz="1350" dirty="0">
                          <a:solidFill>
                            <a:srgbClr val="1B2A22"/>
                          </a:solidFill>
                          <a:latin typeface="Nunito Sans" pitchFamily="34" charset="0"/>
                          <a:ea typeface="Nunito Sans" pitchFamily="34" charset="-122"/>
                          <a:cs typeface="Nunito Sans" pitchFamily="34" charset="-120"/>
                        </a:rPr>
                        <a:t>Depth-wise separable convolutions; light and fast</a:t>
                      </a:r>
                      <a:endParaRPr lang="en-US" sz="1350" dirty="0">
                        <a:latin typeface="Nunito Sans" charset="0"/>
                        <a:ea typeface="Nunito Sans" charset="0"/>
                        <a:cs typeface="Nunito Sans" charset="0"/>
                      </a:endParaRPr>
                    </a:p>
                  </a:txBody>
                  <a:tcPr marL="60007" marR="60007" marT="60007" marB="60007" anchor="t">
                    <a:lnL w="12700" cap="flat" cmpd="sng" algn="ctr">
                      <a:solidFill>
                        <a:srgbClr val="C4C4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4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6B5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4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90"/>
                        </a:lnSpc>
                        <a:buNone/>
                      </a:pPr>
                      <a:r>
                        <a:rPr lang="en-US" sz="1350" dirty="0">
                          <a:solidFill>
                            <a:srgbClr val="1B2A22"/>
                          </a:solidFill>
                          <a:latin typeface="Nunito Sans" pitchFamily="34" charset="0"/>
                          <a:ea typeface="Nunito Sans" pitchFamily="34" charset="-122"/>
                          <a:cs typeface="Nunito Sans" pitchFamily="34" charset="-120"/>
                        </a:rPr>
                        <a:t>≈ 3.4 M</a:t>
                      </a:r>
                      <a:endParaRPr lang="en-US" sz="1350" dirty="0">
                        <a:latin typeface="Nunito Sans" charset="0"/>
                        <a:ea typeface="Nunito Sans" charset="0"/>
                        <a:cs typeface="Nunito Sans" charset="0"/>
                      </a:endParaRPr>
                    </a:p>
                  </a:txBody>
                  <a:tcPr marL="60007" marR="60007" marT="60007" marB="60007" anchor="t">
                    <a:lnL w="12700" cap="flat" cmpd="sng" algn="ctr">
                      <a:solidFill>
                        <a:srgbClr val="C4C4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4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6B5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4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72666">
                <a:tc>
                  <a:txBody>
                    <a:bodyPr/>
                    <a:lstStyle/>
                    <a:p>
                      <a:pPr indent="0" marL="0">
                        <a:lnSpc>
                          <a:spcPts val="1890"/>
                        </a:lnSpc>
                        <a:buNone/>
                      </a:pPr>
                      <a:r>
                        <a:rPr lang="en-US" sz="1350" dirty="0">
                          <a:solidFill>
                            <a:srgbClr val="1B2A22"/>
                          </a:solidFill>
                          <a:latin typeface="Nunito Sans" pitchFamily="34" charset="0"/>
                          <a:ea typeface="Nunito Sans" pitchFamily="34" charset="-122"/>
                          <a:cs typeface="Nunito Sans" pitchFamily="34" charset="-120"/>
                        </a:rPr>
                        <a:t>ResNet50</a:t>
                      </a:r>
                      <a:endParaRPr lang="en-US" sz="1350" dirty="0">
                        <a:latin typeface="Nunito Sans" charset="0"/>
                        <a:ea typeface="Nunito Sans" charset="0"/>
                        <a:cs typeface="Nunito Sans" charset="0"/>
                      </a:endParaRPr>
                    </a:p>
                  </a:txBody>
                  <a:tcPr marL="60007" marR="60007" marT="60007" marB="60007" anchor="t">
                    <a:lnL w="12700" cap="flat" cmpd="sng" algn="ctr">
                      <a:solidFill>
                        <a:srgbClr val="C4C4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4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4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4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90"/>
                        </a:lnSpc>
                        <a:buNone/>
                      </a:pPr>
                      <a:r>
                        <a:rPr lang="en-US" sz="1350" dirty="0">
                          <a:solidFill>
                            <a:srgbClr val="1B2A22"/>
                          </a:solidFill>
                          <a:latin typeface="Nunito Sans" pitchFamily="34" charset="0"/>
                          <a:ea typeface="Nunito Sans" pitchFamily="34" charset="-122"/>
                          <a:cs typeface="Nunito Sans" pitchFamily="34" charset="-120"/>
                        </a:rPr>
                        <a:t>50 layers with skip connections</a:t>
                      </a:r>
                      <a:endParaRPr lang="en-US" sz="1350" dirty="0">
                        <a:latin typeface="Nunito Sans" charset="0"/>
                        <a:ea typeface="Nunito Sans" charset="0"/>
                        <a:cs typeface="Nunito Sans" charset="0"/>
                      </a:endParaRPr>
                    </a:p>
                  </a:txBody>
                  <a:tcPr marL="60007" marR="60007" marT="60007" marB="60007" anchor="t">
                    <a:lnL w="12700" cap="flat" cmpd="sng" algn="ctr">
                      <a:solidFill>
                        <a:srgbClr val="C4C4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4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4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4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90"/>
                        </a:lnSpc>
                        <a:buNone/>
                      </a:pPr>
                      <a:r>
                        <a:rPr lang="en-US" sz="1350" dirty="0">
                          <a:solidFill>
                            <a:srgbClr val="1B2A22"/>
                          </a:solidFill>
                          <a:latin typeface="Nunito Sans" pitchFamily="34" charset="0"/>
                          <a:ea typeface="Nunito Sans" pitchFamily="34" charset="-122"/>
                          <a:cs typeface="Nunito Sans" pitchFamily="34" charset="-120"/>
                        </a:rPr>
                        <a:t>≈ 25.6 M</a:t>
                      </a:r>
                      <a:endParaRPr lang="en-US" sz="1350" dirty="0">
                        <a:latin typeface="Nunito Sans" charset="0"/>
                        <a:ea typeface="Nunito Sans" charset="0"/>
                        <a:cs typeface="Nunito Sans" charset="0"/>
                      </a:endParaRPr>
                    </a:p>
                  </a:txBody>
                  <a:tcPr marL="60007" marR="60007" marT="60007" marB="60007" anchor="t">
                    <a:lnL w="12700" cap="flat" cmpd="sng" algn="ctr">
                      <a:solidFill>
                        <a:srgbClr val="C4C4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4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4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4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72666">
                <a:tc>
                  <a:txBody>
                    <a:bodyPr/>
                    <a:lstStyle/>
                    <a:p>
                      <a:pPr indent="0" marL="0">
                        <a:lnSpc>
                          <a:spcPts val="1890"/>
                        </a:lnSpc>
                        <a:buNone/>
                      </a:pPr>
                      <a:r>
                        <a:rPr lang="en-US" sz="1350" dirty="0">
                          <a:solidFill>
                            <a:srgbClr val="1B2A22"/>
                          </a:solidFill>
                          <a:latin typeface="Nunito Sans" pitchFamily="34" charset="0"/>
                          <a:ea typeface="Nunito Sans" pitchFamily="34" charset="-122"/>
                          <a:cs typeface="Nunito Sans" pitchFamily="34" charset="-120"/>
                        </a:rPr>
                        <a:t>EfficientNetB0</a:t>
                      </a:r>
                      <a:endParaRPr lang="en-US" sz="1350" dirty="0">
                        <a:latin typeface="Nunito Sans" charset="0"/>
                        <a:ea typeface="Nunito Sans" charset="0"/>
                        <a:cs typeface="Nunito Sans" charset="0"/>
                      </a:endParaRPr>
                    </a:p>
                  </a:txBody>
                  <a:tcPr marL="60007" marR="60007" marT="60007" marB="60007" anchor="t">
                    <a:lnL w="12700" cap="flat" cmpd="sng" algn="ctr">
                      <a:solidFill>
                        <a:srgbClr val="C4C4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4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4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4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90"/>
                        </a:lnSpc>
                        <a:buNone/>
                      </a:pPr>
                      <a:r>
                        <a:rPr lang="en-US" sz="1350" dirty="0">
                          <a:solidFill>
                            <a:srgbClr val="1B2A22"/>
                          </a:solidFill>
                          <a:latin typeface="Nunito Sans" pitchFamily="34" charset="0"/>
                          <a:ea typeface="Nunito Sans" pitchFamily="34" charset="-122"/>
                          <a:cs typeface="Nunito Sans" pitchFamily="34" charset="-120"/>
                        </a:rPr>
                        <a:t>Compound scaling of depth, width, resolution</a:t>
                      </a:r>
                      <a:endParaRPr lang="en-US" sz="1350" dirty="0">
                        <a:latin typeface="Nunito Sans" charset="0"/>
                        <a:ea typeface="Nunito Sans" charset="0"/>
                        <a:cs typeface="Nunito Sans" charset="0"/>
                      </a:endParaRPr>
                    </a:p>
                  </a:txBody>
                  <a:tcPr marL="60007" marR="60007" marT="60007" marB="60007" anchor="t">
                    <a:lnL w="12700" cap="flat" cmpd="sng" algn="ctr">
                      <a:solidFill>
                        <a:srgbClr val="C4C4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4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4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4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90"/>
                        </a:lnSpc>
                        <a:buNone/>
                      </a:pPr>
                      <a:r>
                        <a:rPr lang="en-US" sz="1350" dirty="0">
                          <a:solidFill>
                            <a:srgbClr val="1B2A22"/>
                          </a:solidFill>
                          <a:latin typeface="Nunito Sans" pitchFamily="34" charset="0"/>
                          <a:ea typeface="Nunito Sans" pitchFamily="34" charset="-122"/>
                          <a:cs typeface="Nunito Sans" pitchFamily="34" charset="-120"/>
                        </a:rPr>
                        <a:t>≈ 5.3 M</a:t>
                      </a:r>
                      <a:endParaRPr lang="en-US" sz="1350" dirty="0">
                        <a:latin typeface="Nunito Sans" charset="0"/>
                        <a:ea typeface="Nunito Sans" charset="0"/>
                        <a:cs typeface="Nunito Sans" charset="0"/>
                      </a:endParaRPr>
                    </a:p>
                  </a:txBody>
                  <a:tcPr marL="60007" marR="60007" marT="60007" marB="60007" anchor="t">
                    <a:lnL w="12700" cap="flat" cmpd="sng" algn="ctr">
                      <a:solidFill>
                        <a:srgbClr val="C4C4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4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4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4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812800" y="3738513"/>
            <a:ext cx="3437434" cy="749250"/>
          </a:xfrm>
          <a:prstGeom prst="roundRect">
            <a:avLst>
              <a:gd name="adj" fmla="val 11865"/>
            </a:avLst>
          </a:prstGeom>
          <a:solidFill>
            <a:srgbClr val="14301F"/>
          </a:solidFill>
          <a:ln/>
        </p:spPr>
      </p:sp>
      <p:sp>
        <p:nvSpPr>
          <p:cNvPr id="6" name="Text 3"/>
          <p:cNvSpPr/>
          <p:nvPr/>
        </p:nvSpPr>
        <p:spPr>
          <a:xfrm>
            <a:off x="977900" y="3890913"/>
            <a:ext cx="3200451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7FD3A0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Stage 1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977900" y="4104233"/>
            <a:ext cx="3200451" cy="2565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F6F5EE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Adam 1e-3, 15 epochs, base frozen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4377234" y="3738513"/>
            <a:ext cx="3437483" cy="749250"/>
          </a:xfrm>
          <a:prstGeom prst="roundRect">
            <a:avLst>
              <a:gd name="adj" fmla="val 11865"/>
            </a:avLst>
          </a:prstGeom>
          <a:solidFill>
            <a:srgbClr val="14301F"/>
          </a:solidFill>
          <a:ln/>
        </p:spPr>
      </p:sp>
      <p:sp>
        <p:nvSpPr>
          <p:cNvPr id="9" name="Text 6"/>
          <p:cNvSpPr/>
          <p:nvPr/>
        </p:nvSpPr>
        <p:spPr>
          <a:xfrm>
            <a:off x="4542334" y="3890913"/>
            <a:ext cx="320050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7FD3A0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Stage 2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4542334" y="4104233"/>
            <a:ext cx="3200502" cy="2565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F6F5EE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Adam 1e-5, 10 epochs, last 30 layers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7941717" y="3738513"/>
            <a:ext cx="3437483" cy="749250"/>
          </a:xfrm>
          <a:prstGeom prst="roundRect">
            <a:avLst>
              <a:gd name="adj" fmla="val 11865"/>
            </a:avLst>
          </a:prstGeom>
          <a:solidFill>
            <a:srgbClr val="14301F"/>
          </a:solidFill>
          <a:ln/>
        </p:spPr>
      </p:sp>
      <p:sp>
        <p:nvSpPr>
          <p:cNvPr id="12" name="Text 9"/>
          <p:cNvSpPr/>
          <p:nvPr/>
        </p:nvSpPr>
        <p:spPr>
          <a:xfrm>
            <a:off x="8106817" y="3890913"/>
            <a:ext cx="320050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7FD3A0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Settings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8106817" y="4104233"/>
            <a:ext cx="3200502" cy="2565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F6F5EE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Batch 32, dropout 0.3, early stopping</a:t>
            </a:r>
            <a:endParaRPr lang="en-US" sz="1300" dirty="0"/>
          </a:p>
        </p:txBody>
      </p:sp>
      <p:sp>
        <p:nvSpPr>
          <p:cNvPr id="14" name="Text 11"/>
          <p:cNvSpPr/>
          <p:nvPr/>
        </p:nvSpPr>
        <p:spPr>
          <a:xfrm>
            <a:off x="812800" y="6238280"/>
            <a:ext cx="588645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C6860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Waste Classification · CNN &amp; Transfer Learning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10693400" y="6238280"/>
            <a:ext cx="6858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C6860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15</a:t>
            </a:r>
            <a:endParaRPr lang="en-US" sz="12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6F5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6679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5060"/>
              </a:lnSpc>
              <a:buNone/>
            </a:pPr>
            <a:r>
              <a:rPr lang="en-US" sz="4600" b="1" dirty="0">
                <a:solidFill>
                  <a:srgbClr val="1E7A46"/>
                </a:solidFill>
                <a:latin typeface="Domine" pitchFamily="18" charset="0"/>
                <a:ea typeface="Domine" pitchFamily="18" charset="-122"/>
                <a:cs typeface="Domine" pitchFamily="18" charset="-120"/>
              </a:rPr>
              <a:t>Implementation</a:t>
            </a:r>
            <a:endParaRPr lang="en-US" sz="4600" dirty="0"/>
          </a:p>
        </p:txBody>
      </p:sp>
      <p:sp>
        <p:nvSpPr>
          <p:cNvPr id="3" name="Text 1"/>
          <p:cNvSpPr/>
          <p:nvPr/>
        </p:nvSpPr>
        <p:spPr>
          <a:xfrm>
            <a:off x="812800" y="1518890"/>
            <a:ext cx="10883392" cy="2844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040"/>
              </a:lnSpc>
              <a:buNone/>
            </a:pPr>
            <a:r>
              <a:rPr lang="en-US" sz="1700" b="1" dirty="0">
                <a:solidFill>
                  <a:srgbClr val="14301F"/>
                </a:solidFill>
                <a:latin typeface="Domine" pitchFamily="18" charset="0"/>
                <a:ea typeface="Domine" pitchFamily="18" charset="-122"/>
                <a:cs typeface="Domine" pitchFamily="18" charset="-120"/>
              </a:rPr>
              <a:t>Key steps in code</a:t>
            </a:r>
            <a:endParaRPr lang="en-US" sz="1700" dirty="0"/>
          </a:p>
        </p:txBody>
      </p:sp>
      <p:sp>
        <p:nvSpPr>
          <p:cNvPr id="4" name="Shape 2"/>
          <p:cNvSpPr/>
          <p:nvPr/>
        </p:nvSpPr>
        <p:spPr>
          <a:xfrm>
            <a:off x="815975" y="2009725"/>
            <a:ext cx="4438650" cy="730200"/>
          </a:xfrm>
          <a:prstGeom prst="roundRect">
            <a:avLst>
              <a:gd name="adj" fmla="val 11740"/>
            </a:avLst>
          </a:prstGeom>
          <a:solidFill>
            <a:srgbClr val="FDFCF8"/>
          </a:solidFill>
          <a:ln w="6350">
            <a:solidFill>
              <a:srgbClr val="D8DFD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84250" y="2139900"/>
            <a:ext cx="4225163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1E7A46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Data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984250" y="2378621"/>
            <a:ext cx="4267200" cy="2565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1B2A22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Keras image_dataset_from_directory, 70 / 15 / 15 split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815975" y="2860576"/>
            <a:ext cx="4438650" cy="730200"/>
          </a:xfrm>
          <a:prstGeom prst="roundRect">
            <a:avLst>
              <a:gd name="adj" fmla="val 11740"/>
            </a:avLst>
          </a:prstGeom>
          <a:solidFill>
            <a:srgbClr val="FDFCF8"/>
          </a:solidFill>
          <a:ln w="6350">
            <a:solidFill>
              <a:srgbClr val="D8DFD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84250" y="2990751"/>
            <a:ext cx="4225163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1E7A46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Model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984250" y="3229471"/>
            <a:ext cx="4225163" cy="2565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1B2A22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Frozen backbone plus a new 7-class head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815975" y="3711426"/>
            <a:ext cx="4438650" cy="730200"/>
          </a:xfrm>
          <a:prstGeom prst="roundRect">
            <a:avLst>
              <a:gd name="adj" fmla="val 11740"/>
            </a:avLst>
          </a:prstGeom>
          <a:solidFill>
            <a:srgbClr val="FDFCF8"/>
          </a:solidFill>
          <a:ln w="6350">
            <a:solidFill>
              <a:srgbClr val="D8DFD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84250" y="3841601"/>
            <a:ext cx="4225163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1E7A46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Training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984250" y="4080321"/>
            <a:ext cx="4225163" cy="2565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1B2A22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Head first, then fine-tune the top layers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815975" y="4562277"/>
            <a:ext cx="4438650" cy="730200"/>
          </a:xfrm>
          <a:prstGeom prst="roundRect">
            <a:avLst>
              <a:gd name="adj" fmla="val 11740"/>
            </a:avLst>
          </a:prstGeom>
          <a:solidFill>
            <a:srgbClr val="FDFCF8"/>
          </a:solidFill>
          <a:ln w="6350">
            <a:solidFill>
              <a:srgbClr val="D8DFD3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84250" y="4692452"/>
            <a:ext cx="4225163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1E7A46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Serving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984250" y="4931172"/>
            <a:ext cx="4225163" cy="2565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1B2A22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Flask loads the model; JavaScript calls it with fetch()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5511800" y="2006550"/>
            <a:ext cx="5867400" cy="3289102"/>
          </a:xfrm>
          <a:prstGeom prst="roundRect">
            <a:avLst>
              <a:gd name="adj" fmla="val 3089"/>
            </a:avLst>
          </a:prstGeom>
          <a:solidFill>
            <a:srgbClr val="1F2A24"/>
          </a:solidFill>
          <a:ln/>
        </p:spPr>
      </p:sp>
      <p:sp>
        <p:nvSpPr>
          <p:cNvPr id="17" name="Text 15"/>
          <p:cNvSpPr/>
          <p:nvPr/>
        </p:nvSpPr>
        <p:spPr>
          <a:xfrm>
            <a:off x="5740400" y="2209750"/>
            <a:ext cx="5572506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00" kern="0" dirty="0">
                <a:solidFill>
                  <a:srgbClr val="7FD3A0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MODEL BUILD (KERAS)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5740400" y="2461171"/>
            <a:ext cx="5572506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F6F5EE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x = augment(inputs)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5740400" y="2727871"/>
            <a:ext cx="5572506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F6F5EE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x = preprocess(x)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5740400" y="2994571"/>
            <a:ext cx="5572506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F6F5EE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x = base(x, training=False)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5740400" y="3261271"/>
            <a:ext cx="5572506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F6F5EE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x = GlobalAveragePooling2D()(x)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5740400" y="3527971"/>
            <a:ext cx="5572506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F6F5EE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x = Dropout(0.3)(x)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5740400" y="3794671"/>
            <a:ext cx="5572506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F6F5EE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x = Dense(128, activation="relu")(x)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5740400" y="4061371"/>
            <a:ext cx="5572506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F6F5EE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out = Dense(7, activation="softmax")(x)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812800" y="6238280"/>
            <a:ext cx="588645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C6860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Waste Classification · CNN &amp; Transfer Learning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10693400" y="6238280"/>
            <a:ext cx="6858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C6860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16</a:t>
            </a:r>
            <a:endParaRPr lang="en-US" sz="12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6F5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6679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5060"/>
              </a:lnSpc>
              <a:buNone/>
            </a:pPr>
            <a:r>
              <a:rPr lang="en-US" sz="4600" b="1" dirty="0">
                <a:solidFill>
                  <a:srgbClr val="1E7A46"/>
                </a:solidFill>
                <a:latin typeface="Domine" pitchFamily="18" charset="0"/>
                <a:ea typeface="Domine" pitchFamily="18" charset="-122"/>
                <a:cs typeface="Domine" pitchFamily="18" charset="-120"/>
              </a:rPr>
              <a:t>Results</a:t>
            </a:r>
            <a:endParaRPr lang="en-US" sz="4600" dirty="0"/>
          </a:p>
        </p:txBody>
      </p:sp>
      <p:sp>
        <p:nvSpPr>
          <p:cNvPr id="3" name="Text 1"/>
          <p:cNvSpPr/>
          <p:nvPr/>
        </p:nvSpPr>
        <p:spPr>
          <a:xfrm>
            <a:off x="812800" y="1518890"/>
            <a:ext cx="10883392" cy="2844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040"/>
              </a:lnSpc>
              <a:buNone/>
            </a:pPr>
            <a:r>
              <a:rPr lang="en-US" sz="1700" b="1" dirty="0">
                <a:solidFill>
                  <a:srgbClr val="14301F"/>
                </a:solidFill>
                <a:latin typeface="Domine" pitchFamily="18" charset="0"/>
                <a:ea typeface="Domine" pitchFamily="18" charset="-122"/>
                <a:cs typeface="Domine" pitchFamily="18" charset="-120"/>
              </a:rPr>
              <a:t>Test-set performance</a:t>
            </a:r>
            <a:endParaRPr lang="en-US" sz="17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25500" y="2019250"/>
          <a:ext cx="10553700" cy="1544042"/>
        </p:xfrm>
        <a:graphic>
          <a:graphicData uri="http://schemas.openxmlformats.org/drawingml/2006/table">
            <a:tbl>
              <a:tblPr/>
              <a:tblGrid>
                <a:gridCol w="2955036"/>
                <a:gridCol w="1899666"/>
                <a:gridCol w="1899666"/>
                <a:gridCol w="1899666"/>
                <a:gridCol w="1899666"/>
              </a:tblGrid>
              <a:tr h="386011"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b="1" dirty="0">
                          <a:solidFill>
                            <a:srgbClr val="F6F5EE"/>
                          </a:solidFill>
                          <a:latin typeface="Nunito Sans" pitchFamily="34" charset="0"/>
                          <a:ea typeface="Nunito Sans" pitchFamily="34" charset="-122"/>
                          <a:cs typeface="Nunito Sans" pitchFamily="34" charset="-120"/>
                        </a:rPr>
                        <a:t>Model</a:t>
                      </a:r>
                      <a:endParaRPr lang="en-US" sz="1400" dirty="0">
                        <a:latin typeface="Nunito Sans" charset="0"/>
                        <a:ea typeface="Nunito Sans" charset="0"/>
                        <a:cs typeface="Nunito Sans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C4C4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6B5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4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6B5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3D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b="1" dirty="0">
                          <a:solidFill>
                            <a:srgbClr val="F6F5EE"/>
                          </a:solidFill>
                          <a:latin typeface="Nunito Sans" pitchFamily="34" charset="0"/>
                          <a:ea typeface="Nunito Sans" pitchFamily="34" charset="-122"/>
                          <a:cs typeface="Nunito Sans" pitchFamily="34" charset="-120"/>
                        </a:rPr>
                        <a:t>Accuracy</a:t>
                      </a:r>
                      <a:endParaRPr lang="en-US" sz="1400" dirty="0">
                        <a:latin typeface="Nunito Sans" charset="0"/>
                        <a:ea typeface="Nunito Sans" charset="0"/>
                        <a:cs typeface="Nunito Sans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B6B5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6B5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4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6B5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3D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b="1" dirty="0">
                          <a:solidFill>
                            <a:srgbClr val="F6F5EE"/>
                          </a:solidFill>
                          <a:latin typeface="Nunito Sans" pitchFamily="34" charset="0"/>
                          <a:ea typeface="Nunito Sans" pitchFamily="34" charset="-122"/>
                          <a:cs typeface="Nunito Sans" pitchFamily="34" charset="-120"/>
                        </a:rPr>
                        <a:t>Precision</a:t>
                      </a:r>
                      <a:endParaRPr lang="en-US" sz="1400" dirty="0">
                        <a:latin typeface="Nunito Sans" charset="0"/>
                        <a:ea typeface="Nunito Sans" charset="0"/>
                        <a:cs typeface="Nunito Sans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B6B5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6B5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4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6B5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3D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b="1" dirty="0">
                          <a:solidFill>
                            <a:srgbClr val="F6F5EE"/>
                          </a:solidFill>
                          <a:latin typeface="Nunito Sans" pitchFamily="34" charset="0"/>
                          <a:ea typeface="Nunito Sans" pitchFamily="34" charset="-122"/>
                          <a:cs typeface="Nunito Sans" pitchFamily="34" charset="-120"/>
                        </a:rPr>
                        <a:t>Recall</a:t>
                      </a:r>
                      <a:endParaRPr lang="en-US" sz="1400" dirty="0">
                        <a:latin typeface="Nunito Sans" charset="0"/>
                        <a:ea typeface="Nunito Sans" charset="0"/>
                        <a:cs typeface="Nunito Sans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B6B5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6B5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4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6B5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3D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b="1" dirty="0">
                          <a:solidFill>
                            <a:srgbClr val="F6F5EE"/>
                          </a:solidFill>
                          <a:latin typeface="Nunito Sans" pitchFamily="34" charset="0"/>
                          <a:ea typeface="Nunito Sans" pitchFamily="34" charset="-122"/>
                          <a:cs typeface="Nunito Sans" pitchFamily="34" charset="-120"/>
                        </a:rPr>
                        <a:t>F1-score</a:t>
                      </a:r>
                      <a:endParaRPr lang="en-US" sz="1400" dirty="0">
                        <a:latin typeface="Nunito Sans" charset="0"/>
                        <a:ea typeface="Nunito Sans" charset="0"/>
                        <a:cs typeface="Nunito Sans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B6B5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6B5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4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6B5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3DC"/>
                    </a:solidFill>
                  </a:tcPr>
                </a:tc>
              </a:tr>
              <a:tr h="386011"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B2A22"/>
                          </a:solidFill>
                          <a:latin typeface="Nunito Sans" pitchFamily="34" charset="0"/>
                          <a:ea typeface="Nunito Sans" pitchFamily="34" charset="-122"/>
                          <a:cs typeface="Nunito Sans" pitchFamily="34" charset="-120"/>
                        </a:rPr>
                        <a:t>MobileNetV2</a:t>
                      </a:r>
                      <a:endParaRPr lang="en-US" sz="1400" dirty="0">
                        <a:latin typeface="Nunito Sans" charset="0"/>
                        <a:ea typeface="Nunito Sans" charset="0"/>
                        <a:cs typeface="Nunito Sans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C4C4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4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6B5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4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B2A22"/>
                          </a:solidFill>
                          <a:latin typeface="Nunito Sans" pitchFamily="34" charset="0"/>
                          <a:ea typeface="Nunito Sans" pitchFamily="34" charset="-122"/>
                          <a:cs typeface="Nunito Sans" pitchFamily="34" charset="-120"/>
                        </a:rPr>
                        <a:t>[ __ ]</a:t>
                      </a:r>
                      <a:endParaRPr lang="en-US" sz="1400" dirty="0">
                        <a:latin typeface="Nunito Sans" charset="0"/>
                        <a:ea typeface="Nunito Sans" charset="0"/>
                        <a:cs typeface="Nunito Sans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C4C4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4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6B5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4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B2A22"/>
                          </a:solidFill>
                          <a:latin typeface="Nunito Sans" pitchFamily="34" charset="0"/>
                          <a:ea typeface="Nunito Sans" pitchFamily="34" charset="-122"/>
                          <a:cs typeface="Nunito Sans" pitchFamily="34" charset="-120"/>
                        </a:rPr>
                        <a:t>[ __ ]</a:t>
                      </a:r>
                      <a:endParaRPr lang="en-US" sz="1400" dirty="0">
                        <a:latin typeface="Nunito Sans" charset="0"/>
                        <a:ea typeface="Nunito Sans" charset="0"/>
                        <a:cs typeface="Nunito Sans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C4C4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4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6B5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4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B2A22"/>
                          </a:solidFill>
                          <a:latin typeface="Nunito Sans" pitchFamily="34" charset="0"/>
                          <a:ea typeface="Nunito Sans" pitchFamily="34" charset="-122"/>
                          <a:cs typeface="Nunito Sans" pitchFamily="34" charset="-120"/>
                        </a:rPr>
                        <a:t>[ __ ]</a:t>
                      </a:r>
                      <a:endParaRPr lang="en-US" sz="1400" dirty="0">
                        <a:latin typeface="Nunito Sans" charset="0"/>
                        <a:ea typeface="Nunito Sans" charset="0"/>
                        <a:cs typeface="Nunito Sans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C4C4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4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6B5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4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B2A22"/>
                          </a:solidFill>
                          <a:latin typeface="Nunito Sans" pitchFamily="34" charset="0"/>
                          <a:ea typeface="Nunito Sans" pitchFamily="34" charset="-122"/>
                          <a:cs typeface="Nunito Sans" pitchFamily="34" charset="-120"/>
                        </a:rPr>
                        <a:t>[ __ ]</a:t>
                      </a:r>
                      <a:endParaRPr lang="en-US" sz="1400" dirty="0">
                        <a:latin typeface="Nunito Sans" charset="0"/>
                        <a:ea typeface="Nunito Sans" charset="0"/>
                        <a:cs typeface="Nunito Sans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C4C4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4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6B5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4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6011"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B2A22"/>
                          </a:solidFill>
                          <a:latin typeface="Nunito Sans" pitchFamily="34" charset="0"/>
                          <a:ea typeface="Nunito Sans" pitchFamily="34" charset="-122"/>
                          <a:cs typeface="Nunito Sans" pitchFamily="34" charset="-120"/>
                        </a:rPr>
                        <a:t>ResNet50</a:t>
                      </a:r>
                      <a:endParaRPr lang="en-US" sz="1400" dirty="0">
                        <a:latin typeface="Nunito Sans" charset="0"/>
                        <a:ea typeface="Nunito Sans" charset="0"/>
                        <a:cs typeface="Nunito Sans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C4C4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4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4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4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B2A22"/>
                          </a:solidFill>
                          <a:latin typeface="Nunito Sans" pitchFamily="34" charset="0"/>
                          <a:ea typeface="Nunito Sans" pitchFamily="34" charset="-122"/>
                          <a:cs typeface="Nunito Sans" pitchFamily="34" charset="-120"/>
                        </a:rPr>
                        <a:t>[ __ ]</a:t>
                      </a:r>
                      <a:endParaRPr lang="en-US" sz="1400" dirty="0">
                        <a:latin typeface="Nunito Sans" charset="0"/>
                        <a:ea typeface="Nunito Sans" charset="0"/>
                        <a:cs typeface="Nunito Sans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C4C4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4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4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4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B2A22"/>
                          </a:solidFill>
                          <a:latin typeface="Nunito Sans" pitchFamily="34" charset="0"/>
                          <a:ea typeface="Nunito Sans" pitchFamily="34" charset="-122"/>
                          <a:cs typeface="Nunito Sans" pitchFamily="34" charset="-120"/>
                        </a:rPr>
                        <a:t>[ __ ]</a:t>
                      </a:r>
                      <a:endParaRPr lang="en-US" sz="1400" dirty="0">
                        <a:latin typeface="Nunito Sans" charset="0"/>
                        <a:ea typeface="Nunito Sans" charset="0"/>
                        <a:cs typeface="Nunito Sans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C4C4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4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4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4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B2A22"/>
                          </a:solidFill>
                          <a:latin typeface="Nunito Sans" pitchFamily="34" charset="0"/>
                          <a:ea typeface="Nunito Sans" pitchFamily="34" charset="-122"/>
                          <a:cs typeface="Nunito Sans" pitchFamily="34" charset="-120"/>
                        </a:rPr>
                        <a:t>[ __ ]</a:t>
                      </a:r>
                      <a:endParaRPr lang="en-US" sz="1400" dirty="0">
                        <a:latin typeface="Nunito Sans" charset="0"/>
                        <a:ea typeface="Nunito Sans" charset="0"/>
                        <a:cs typeface="Nunito Sans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C4C4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4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4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4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B2A22"/>
                          </a:solidFill>
                          <a:latin typeface="Nunito Sans" pitchFamily="34" charset="0"/>
                          <a:ea typeface="Nunito Sans" pitchFamily="34" charset="-122"/>
                          <a:cs typeface="Nunito Sans" pitchFamily="34" charset="-120"/>
                        </a:rPr>
                        <a:t>[ __ ]</a:t>
                      </a:r>
                      <a:endParaRPr lang="en-US" sz="1400" dirty="0">
                        <a:latin typeface="Nunito Sans" charset="0"/>
                        <a:ea typeface="Nunito Sans" charset="0"/>
                        <a:cs typeface="Nunito Sans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C4C4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4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4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4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6011"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B2A22"/>
                          </a:solidFill>
                          <a:latin typeface="Nunito Sans" pitchFamily="34" charset="0"/>
                          <a:ea typeface="Nunito Sans" pitchFamily="34" charset="-122"/>
                          <a:cs typeface="Nunito Sans" pitchFamily="34" charset="-120"/>
                        </a:rPr>
                        <a:t>EfficientNetB0</a:t>
                      </a:r>
                      <a:endParaRPr lang="en-US" sz="1400" dirty="0">
                        <a:latin typeface="Nunito Sans" charset="0"/>
                        <a:ea typeface="Nunito Sans" charset="0"/>
                        <a:cs typeface="Nunito Sans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C4C4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4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4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4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B2A22"/>
                          </a:solidFill>
                          <a:latin typeface="Nunito Sans" pitchFamily="34" charset="0"/>
                          <a:ea typeface="Nunito Sans" pitchFamily="34" charset="-122"/>
                          <a:cs typeface="Nunito Sans" pitchFamily="34" charset="-120"/>
                        </a:rPr>
                        <a:t>[ __ ]</a:t>
                      </a:r>
                      <a:endParaRPr lang="en-US" sz="1400" dirty="0">
                        <a:latin typeface="Nunito Sans" charset="0"/>
                        <a:ea typeface="Nunito Sans" charset="0"/>
                        <a:cs typeface="Nunito Sans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C4C4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4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4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4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B2A22"/>
                          </a:solidFill>
                          <a:latin typeface="Nunito Sans" pitchFamily="34" charset="0"/>
                          <a:ea typeface="Nunito Sans" pitchFamily="34" charset="-122"/>
                          <a:cs typeface="Nunito Sans" pitchFamily="34" charset="-120"/>
                        </a:rPr>
                        <a:t>[ __ ]</a:t>
                      </a:r>
                      <a:endParaRPr lang="en-US" sz="1400" dirty="0">
                        <a:latin typeface="Nunito Sans" charset="0"/>
                        <a:ea typeface="Nunito Sans" charset="0"/>
                        <a:cs typeface="Nunito Sans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C4C4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4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4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4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B2A22"/>
                          </a:solidFill>
                          <a:latin typeface="Nunito Sans" pitchFamily="34" charset="0"/>
                          <a:ea typeface="Nunito Sans" pitchFamily="34" charset="-122"/>
                          <a:cs typeface="Nunito Sans" pitchFamily="34" charset="-120"/>
                        </a:rPr>
                        <a:t>[ __ ]</a:t>
                      </a:r>
                      <a:endParaRPr lang="en-US" sz="1400" dirty="0">
                        <a:latin typeface="Nunito Sans" charset="0"/>
                        <a:ea typeface="Nunito Sans" charset="0"/>
                        <a:cs typeface="Nunito Sans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C4C4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4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4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4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B2A22"/>
                          </a:solidFill>
                          <a:latin typeface="Nunito Sans" pitchFamily="34" charset="0"/>
                          <a:ea typeface="Nunito Sans" pitchFamily="34" charset="-122"/>
                          <a:cs typeface="Nunito Sans" pitchFamily="34" charset="-120"/>
                        </a:rPr>
                        <a:t>[ __ ]</a:t>
                      </a:r>
                      <a:endParaRPr lang="en-US" sz="1400" dirty="0">
                        <a:latin typeface="Nunito Sans" charset="0"/>
                        <a:ea typeface="Nunito Sans" charset="0"/>
                        <a:cs typeface="Nunito Sans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C4C4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4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4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4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819150" y="3798243"/>
            <a:ext cx="3424734" cy="761950"/>
          </a:xfrm>
          <a:prstGeom prst="roundRect">
            <a:avLst>
              <a:gd name="adj" fmla="val 10834"/>
            </a:avLst>
          </a:prstGeom>
          <a:solidFill>
            <a:srgbClr val="FDFCF8"/>
          </a:solidFill>
          <a:ln w="12700">
            <a:solidFill>
              <a:srgbClr val="9DB5A5"/>
            </a:solidFill>
            <a:prstDash val="dash"/>
          </a:ln>
        </p:spPr>
      </p:sp>
      <p:sp>
        <p:nvSpPr>
          <p:cNvPr id="6" name="Text 3"/>
          <p:cNvSpPr/>
          <p:nvPr/>
        </p:nvSpPr>
        <p:spPr>
          <a:xfrm>
            <a:off x="990600" y="3956993"/>
            <a:ext cx="3174289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1E7A46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Add chart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990600" y="4170313"/>
            <a:ext cx="3174289" cy="2565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1B2A22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Training vs validation accuracy and loss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4383584" y="3798243"/>
            <a:ext cx="3424783" cy="761950"/>
          </a:xfrm>
          <a:prstGeom prst="roundRect">
            <a:avLst>
              <a:gd name="adj" fmla="val 10834"/>
            </a:avLst>
          </a:prstGeom>
          <a:solidFill>
            <a:srgbClr val="FDFCF8"/>
          </a:solidFill>
          <a:ln w="12700">
            <a:solidFill>
              <a:srgbClr val="9DB5A5"/>
            </a:solidFill>
            <a:prstDash val="dash"/>
          </a:ln>
        </p:spPr>
      </p:sp>
      <p:sp>
        <p:nvSpPr>
          <p:cNvPr id="9" name="Text 6"/>
          <p:cNvSpPr/>
          <p:nvPr/>
        </p:nvSpPr>
        <p:spPr>
          <a:xfrm>
            <a:off x="4555034" y="3956993"/>
            <a:ext cx="317434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1E7A46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Add chart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4555034" y="4170313"/>
            <a:ext cx="3174340" cy="2565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1B2A22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Confusion matrix on the test set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7948067" y="3798243"/>
            <a:ext cx="3424783" cy="761950"/>
          </a:xfrm>
          <a:prstGeom prst="roundRect">
            <a:avLst>
              <a:gd name="adj" fmla="val 10834"/>
            </a:avLst>
          </a:prstGeom>
          <a:solidFill>
            <a:srgbClr val="FDFCF8"/>
          </a:solidFill>
          <a:ln w="12700">
            <a:solidFill>
              <a:srgbClr val="9DB5A5"/>
            </a:solidFill>
            <a:prstDash val="dash"/>
          </a:ln>
        </p:spPr>
      </p:sp>
      <p:sp>
        <p:nvSpPr>
          <p:cNvPr id="12" name="Text 9"/>
          <p:cNvSpPr/>
          <p:nvPr/>
        </p:nvSpPr>
        <p:spPr>
          <a:xfrm>
            <a:off x="8119517" y="3956993"/>
            <a:ext cx="317434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1E7A46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Add chart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8119517" y="4170313"/>
            <a:ext cx="3174340" cy="2565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1B2A22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Per-class precision and recall</a:t>
            </a:r>
            <a:endParaRPr lang="en-US" sz="1300" dirty="0"/>
          </a:p>
        </p:txBody>
      </p:sp>
      <p:sp>
        <p:nvSpPr>
          <p:cNvPr id="14" name="Text 11"/>
          <p:cNvSpPr/>
          <p:nvPr/>
        </p:nvSpPr>
        <p:spPr>
          <a:xfrm>
            <a:off x="812800" y="4795143"/>
            <a:ext cx="10883392" cy="2565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46544B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Best model: [ state which of the three performed best ]</a:t>
            </a:r>
            <a:endParaRPr lang="en-US" sz="1300" dirty="0"/>
          </a:p>
        </p:txBody>
      </p:sp>
      <p:sp>
        <p:nvSpPr>
          <p:cNvPr id="15" name="Text 12"/>
          <p:cNvSpPr/>
          <p:nvPr/>
        </p:nvSpPr>
        <p:spPr>
          <a:xfrm>
            <a:off x="812800" y="6238280"/>
            <a:ext cx="588645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C6860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Waste Classification · CNN &amp; Transfer Learning</a:t>
            </a:r>
            <a:endParaRPr lang="en-US" sz="1200" dirty="0"/>
          </a:p>
        </p:txBody>
      </p:sp>
      <p:sp>
        <p:nvSpPr>
          <p:cNvPr id="16" name="Text 13"/>
          <p:cNvSpPr/>
          <p:nvPr/>
        </p:nvSpPr>
        <p:spPr>
          <a:xfrm>
            <a:off x="10693400" y="6238280"/>
            <a:ext cx="6858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C6860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17</a:t>
            </a:r>
            <a:endParaRPr lang="en-US" sz="12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6F5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6679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5060"/>
              </a:lnSpc>
              <a:buNone/>
            </a:pPr>
            <a:r>
              <a:rPr lang="en-US" sz="4600" b="1" dirty="0">
                <a:solidFill>
                  <a:srgbClr val="1E7A46"/>
                </a:solidFill>
                <a:latin typeface="Domine" pitchFamily="18" charset="0"/>
                <a:ea typeface="Domine" pitchFamily="18" charset="-122"/>
                <a:cs typeface="Domine" pitchFamily="18" charset="-120"/>
              </a:rPr>
              <a:t>Comparison</a:t>
            </a:r>
            <a:endParaRPr lang="en-US" sz="4600" dirty="0"/>
          </a:p>
        </p:txBody>
      </p:sp>
      <p:sp>
        <p:nvSpPr>
          <p:cNvPr id="3" name="Text 1"/>
          <p:cNvSpPr/>
          <p:nvPr/>
        </p:nvSpPr>
        <p:spPr>
          <a:xfrm>
            <a:off x="812800" y="1518890"/>
            <a:ext cx="10883392" cy="2844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040"/>
              </a:lnSpc>
              <a:buNone/>
            </a:pPr>
            <a:r>
              <a:rPr lang="en-US" sz="1700" b="1" dirty="0">
                <a:solidFill>
                  <a:srgbClr val="14301F"/>
                </a:solidFill>
                <a:latin typeface="Domine" pitchFamily="18" charset="0"/>
                <a:ea typeface="Domine" pitchFamily="18" charset="-122"/>
                <a:cs typeface="Domine" pitchFamily="18" charset="-120"/>
              </a:rPr>
              <a:t>Manual sorting vs the CNN system</a:t>
            </a:r>
            <a:endParaRPr lang="en-US" sz="17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25500" y="2019250"/>
          <a:ext cx="10553700" cy="2316063"/>
        </p:xfrm>
        <a:graphic>
          <a:graphicData uri="http://schemas.openxmlformats.org/drawingml/2006/table">
            <a:tbl>
              <a:tblPr/>
              <a:tblGrid>
                <a:gridCol w="2110740"/>
                <a:gridCol w="4221480"/>
                <a:gridCol w="4221480"/>
              </a:tblGrid>
              <a:tr h="386011"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b="1" dirty="0">
                          <a:solidFill>
                            <a:srgbClr val="F6F5EE"/>
                          </a:solidFill>
                          <a:latin typeface="Nunito Sans" pitchFamily="34" charset="0"/>
                          <a:ea typeface="Nunito Sans" pitchFamily="34" charset="-122"/>
                          <a:cs typeface="Nunito Sans" pitchFamily="34" charset="-120"/>
                        </a:rPr>
                        <a:t>Aspect</a:t>
                      </a:r>
                      <a:endParaRPr lang="en-US" sz="1400" dirty="0">
                        <a:latin typeface="Nunito Sans" charset="0"/>
                        <a:ea typeface="Nunito Sans" charset="0"/>
                        <a:cs typeface="Nunito Sans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C4C4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6B5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4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6B5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3D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b="1" dirty="0">
                          <a:solidFill>
                            <a:srgbClr val="F6F5EE"/>
                          </a:solidFill>
                          <a:latin typeface="Nunito Sans" pitchFamily="34" charset="0"/>
                          <a:ea typeface="Nunito Sans" pitchFamily="34" charset="-122"/>
                          <a:cs typeface="Nunito Sans" pitchFamily="34" charset="-120"/>
                        </a:rPr>
                        <a:t>Manual (existing)</a:t>
                      </a:r>
                      <a:endParaRPr lang="en-US" sz="1400" dirty="0">
                        <a:latin typeface="Nunito Sans" charset="0"/>
                        <a:ea typeface="Nunito Sans" charset="0"/>
                        <a:cs typeface="Nunito Sans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B6B5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6B5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4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6B5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3D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b="1" dirty="0">
                          <a:solidFill>
                            <a:srgbClr val="F6F5EE"/>
                          </a:solidFill>
                          <a:latin typeface="Nunito Sans" pitchFamily="34" charset="0"/>
                          <a:ea typeface="Nunito Sans" pitchFamily="34" charset="-122"/>
                          <a:cs typeface="Nunito Sans" pitchFamily="34" charset="-120"/>
                        </a:rPr>
                        <a:t>CNN system (proposed)</a:t>
                      </a:r>
                      <a:endParaRPr lang="en-US" sz="1400" dirty="0">
                        <a:latin typeface="Nunito Sans" charset="0"/>
                        <a:ea typeface="Nunito Sans" charset="0"/>
                        <a:cs typeface="Nunito Sans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B6B5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6B5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4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6B5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3DC"/>
                    </a:solidFill>
                  </a:tcPr>
                </a:tc>
              </a:tr>
              <a:tr h="386011"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B2A22"/>
                          </a:solidFill>
                          <a:latin typeface="Nunito Sans" pitchFamily="34" charset="0"/>
                          <a:ea typeface="Nunito Sans" pitchFamily="34" charset="-122"/>
                          <a:cs typeface="Nunito Sans" pitchFamily="34" charset="-120"/>
                        </a:rPr>
                        <a:t>Speed</a:t>
                      </a:r>
                      <a:endParaRPr lang="en-US" sz="1400" dirty="0">
                        <a:latin typeface="Nunito Sans" charset="0"/>
                        <a:ea typeface="Nunito Sans" charset="0"/>
                        <a:cs typeface="Nunito Sans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C4C4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4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6B5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4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B2A22"/>
                          </a:solidFill>
                          <a:latin typeface="Nunito Sans" pitchFamily="34" charset="0"/>
                          <a:ea typeface="Nunito Sans" pitchFamily="34" charset="-122"/>
                          <a:cs typeface="Nunito Sans" pitchFamily="34" charset="-120"/>
                        </a:rPr>
                        <a:t>Slow, item by item</a:t>
                      </a:r>
                      <a:endParaRPr lang="en-US" sz="1400" dirty="0">
                        <a:latin typeface="Nunito Sans" charset="0"/>
                        <a:ea typeface="Nunito Sans" charset="0"/>
                        <a:cs typeface="Nunito Sans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C4C4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4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6B5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4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B2A22"/>
                          </a:solidFill>
                          <a:latin typeface="Nunito Sans" pitchFamily="34" charset="0"/>
                          <a:ea typeface="Nunito Sans" pitchFamily="34" charset="-122"/>
                          <a:cs typeface="Nunito Sans" pitchFamily="34" charset="-120"/>
                        </a:rPr>
                        <a:t>Seconds per image</a:t>
                      </a:r>
                      <a:endParaRPr lang="en-US" sz="1400" dirty="0">
                        <a:latin typeface="Nunito Sans" charset="0"/>
                        <a:ea typeface="Nunito Sans" charset="0"/>
                        <a:cs typeface="Nunito Sans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C4C4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4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6B5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4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6011"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B2A22"/>
                          </a:solidFill>
                          <a:latin typeface="Nunito Sans" pitchFamily="34" charset="0"/>
                          <a:ea typeface="Nunito Sans" pitchFamily="34" charset="-122"/>
                          <a:cs typeface="Nunito Sans" pitchFamily="34" charset="-120"/>
                        </a:rPr>
                        <a:t>Consistency</a:t>
                      </a:r>
                      <a:endParaRPr lang="en-US" sz="1400" dirty="0">
                        <a:latin typeface="Nunito Sans" charset="0"/>
                        <a:ea typeface="Nunito Sans" charset="0"/>
                        <a:cs typeface="Nunito Sans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C4C4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4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4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4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B2A22"/>
                          </a:solidFill>
                          <a:latin typeface="Nunito Sans" pitchFamily="34" charset="0"/>
                          <a:ea typeface="Nunito Sans" pitchFamily="34" charset="-122"/>
                          <a:cs typeface="Nunito Sans" pitchFamily="34" charset="-120"/>
                        </a:rPr>
                        <a:t>Varies between workers</a:t>
                      </a:r>
                      <a:endParaRPr lang="en-US" sz="1400" dirty="0">
                        <a:latin typeface="Nunito Sans" charset="0"/>
                        <a:ea typeface="Nunito Sans" charset="0"/>
                        <a:cs typeface="Nunito Sans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C4C4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4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4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4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B2A22"/>
                          </a:solidFill>
                          <a:latin typeface="Nunito Sans" pitchFamily="34" charset="0"/>
                          <a:ea typeface="Nunito Sans" pitchFamily="34" charset="-122"/>
                          <a:cs typeface="Nunito Sans" pitchFamily="34" charset="-120"/>
                        </a:rPr>
                        <a:t>One model, plus a confidence score</a:t>
                      </a:r>
                      <a:endParaRPr lang="en-US" sz="1400" dirty="0">
                        <a:latin typeface="Nunito Sans" charset="0"/>
                        <a:ea typeface="Nunito Sans" charset="0"/>
                        <a:cs typeface="Nunito Sans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C4C4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4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4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4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6011"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B2A22"/>
                          </a:solidFill>
                          <a:latin typeface="Nunito Sans" pitchFamily="34" charset="0"/>
                          <a:ea typeface="Nunito Sans" pitchFamily="34" charset="-122"/>
                          <a:cs typeface="Nunito Sans" pitchFamily="34" charset="-120"/>
                        </a:rPr>
                        <a:t>Cost</a:t>
                      </a:r>
                      <a:endParaRPr lang="en-US" sz="1400" dirty="0">
                        <a:latin typeface="Nunito Sans" charset="0"/>
                        <a:ea typeface="Nunito Sans" charset="0"/>
                        <a:cs typeface="Nunito Sans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C4C4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4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4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4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B2A22"/>
                          </a:solidFill>
                          <a:latin typeface="Nunito Sans" pitchFamily="34" charset="0"/>
                          <a:ea typeface="Nunito Sans" pitchFamily="34" charset="-122"/>
                          <a:cs typeface="Nunito Sans" pitchFamily="34" charset="-120"/>
                        </a:rPr>
                        <a:t>Labour-intensive</a:t>
                      </a:r>
                      <a:endParaRPr lang="en-US" sz="1400" dirty="0">
                        <a:latin typeface="Nunito Sans" charset="0"/>
                        <a:ea typeface="Nunito Sans" charset="0"/>
                        <a:cs typeface="Nunito Sans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C4C4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4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4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4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B2A22"/>
                          </a:solidFill>
                          <a:latin typeface="Nunito Sans" pitchFamily="34" charset="0"/>
                          <a:ea typeface="Nunito Sans" pitchFamily="34" charset="-122"/>
                          <a:cs typeface="Nunito Sans" pitchFamily="34" charset="-120"/>
                        </a:rPr>
                        <a:t>Any browser, no special hardware</a:t>
                      </a:r>
                      <a:endParaRPr lang="en-US" sz="1400" dirty="0">
                        <a:latin typeface="Nunito Sans" charset="0"/>
                        <a:ea typeface="Nunito Sans" charset="0"/>
                        <a:cs typeface="Nunito Sans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C4C4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4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4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4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6011"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B2A22"/>
                          </a:solidFill>
                          <a:latin typeface="Nunito Sans" pitchFamily="34" charset="0"/>
                          <a:ea typeface="Nunito Sans" pitchFamily="34" charset="-122"/>
                          <a:cs typeface="Nunito Sans" pitchFamily="34" charset="-120"/>
                        </a:rPr>
                        <a:t>Access</a:t>
                      </a:r>
                      <a:endParaRPr lang="en-US" sz="1400" dirty="0">
                        <a:latin typeface="Nunito Sans" charset="0"/>
                        <a:ea typeface="Nunito Sans" charset="0"/>
                        <a:cs typeface="Nunito Sans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C4C4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4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4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4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B2A22"/>
                          </a:solidFill>
                          <a:latin typeface="Nunito Sans" pitchFamily="34" charset="0"/>
                          <a:ea typeface="Nunito Sans" pitchFamily="34" charset="-122"/>
                          <a:cs typeface="Nunito Sans" pitchFamily="34" charset="-120"/>
                        </a:rPr>
                        <a:t>Trained staff only</a:t>
                      </a:r>
                      <a:endParaRPr lang="en-US" sz="1400" dirty="0">
                        <a:latin typeface="Nunito Sans" charset="0"/>
                        <a:ea typeface="Nunito Sans" charset="0"/>
                        <a:cs typeface="Nunito Sans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C4C4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4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4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4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B2A22"/>
                          </a:solidFill>
                          <a:latin typeface="Nunito Sans" pitchFamily="34" charset="0"/>
                          <a:ea typeface="Nunito Sans" pitchFamily="34" charset="-122"/>
                          <a:cs typeface="Nunito Sans" pitchFamily="34" charset="-120"/>
                        </a:rPr>
                        <a:t>Anyone with a photo</a:t>
                      </a:r>
                      <a:endParaRPr lang="en-US" sz="1400" dirty="0">
                        <a:latin typeface="Nunito Sans" charset="0"/>
                        <a:ea typeface="Nunito Sans" charset="0"/>
                        <a:cs typeface="Nunito Sans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C4C4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4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4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4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6011"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B2A22"/>
                          </a:solidFill>
                          <a:latin typeface="Nunito Sans" pitchFamily="34" charset="0"/>
                          <a:ea typeface="Nunito Sans" pitchFamily="34" charset="-122"/>
                          <a:cs typeface="Nunito Sans" pitchFamily="34" charset="-120"/>
                        </a:rPr>
                        <a:t>Accuracy</a:t>
                      </a:r>
                      <a:endParaRPr lang="en-US" sz="1400" dirty="0">
                        <a:latin typeface="Nunito Sans" charset="0"/>
                        <a:ea typeface="Nunito Sans" charset="0"/>
                        <a:cs typeface="Nunito Sans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C4C4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4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4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4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B2A22"/>
                          </a:solidFill>
                          <a:latin typeface="Nunito Sans" pitchFamily="34" charset="0"/>
                          <a:ea typeface="Nunito Sans" pitchFamily="34" charset="-122"/>
                          <a:cs typeface="Nunito Sans" pitchFamily="34" charset="-120"/>
                        </a:rPr>
                        <a:t>[ not measured ]</a:t>
                      </a:r>
                      <a:endParaRPr lang="en-US" sz="1400" dirty="0">
                        <a:latin typeface="Nunito Sans" charset="0"/>
                        <a:ea typeface="Nunito Sans" charset="0"/>
                        <a:cs typeface="Nunito Sans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C4C4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4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4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4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B2A22"/>
                          </a:solidFill>
                          <a:latin typeface="Nunito Sans" pitchFamily="34" charset="0"/>
                          <a:ea typeface="Nunito Sans" pitchFamily="34" charset="-122"/>
                          <a:cs typeface="Nunito Sans" pitchFamily="34" charset="-120"/>
                        </a:rPr>
                        <a:t>[ best-model test accuracy ]</a:t>
                      </a:r>
                      <a:endParaRPr lang="en-US" sz="1400" dirty="0">
                        <a:latin typeface="Nunito Sans" charset="0"/>
                        <a:ea typeface="Nunito Sans" charset="0"/>
                        <a:cs typeface="Nunito Sans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C4C4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4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4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4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812800" y="6238280"/>
            <a:ext cx="588645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C6860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Waste Classification · CNN &amp; Transfer Learning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10693400" y="6238280"/>
            <a:ext cx="6858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C6860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18</a:t>
            </a:r>
            <a:endParaRPr lang="en-US" sz="12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6F5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6679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5060"/>
              </a:lnSpc>
              <a:buNone/>
            </a:pPr>
            <a:r>
              <a:rPr lang="en-US" sz="4600" b="1" dirty="0">
                <a:solidFill>
                  <a:srgbClr val="1E7A46"/>
                </a:solidFill>
                <a:latin typeface="Domine" pitchFamily="18" charset="0"/>
                <a:ea typeface="Domine" pitchFamily="18" charset="-122"/>
                <a:cs typeface="Domine" pitchFamily="18" charset="-120"/>
              </a:rPr>
              <a:t>Demo</a:t>
            </a:r>
            <a:endParaRPr lang="en-US" sz="4600" dirty="0"/>
          </a:p>
        </p:txBody>
      </p:sp>
      <p:sp>
        <p:nvSpPr>
          <p:cNvPr id="3" name="Text 1"/>
          <p:cNvSpPr/>
          <p:nvPr/>
        </p:nvSpPr>
        <p:spPr>
          <a:xfrm>
            <a:off x="812800" y="1518890"/>
            <a:ext cx="10883392" cy="2844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040"/>
              </a:lnSpc>
              <a:buNone/>
            </a:pPr>
            <a:r>
              <a:rPr lang="en-US" sz="1700" b="1" dirty="0">
                <a:solidFill>
                  <a:srgbClr val="14301F"/>
                </a:solidFill>
                <a:latin typeface="Domine" pitchFamily="18" charset="0"/>
                <a:ea typeface="Domine" pitchFamily="18" charset="-122"/>
                <a:cs typeface="Domine" pitchFamily="18" charset="-120"/>
              </a:rPr>
              <a:t>The web app in four screens</a:t>
            </a:r>
            <a:endParaRPr lang="en-US" sz="1700" dirty="0"/>
          </a:p>
        </p:txBody>
      </p:sp>
      <p:sp>
        <p:nvSpPr>
          <p:cNvPr id="4" name="Shape 2"/>
          <p:cNvSpPr/>
          <p:nvPr/>
        </p:nvSpPr>
        <p:spPr>
          <a:xfrm>
            <a:off x="819150" y="2012900"/>
            <a:ext cx="2533650" cy="1125141"/>
          </a:xfrm>
          <a:prstGeom prst="roundRect">
            <a:avLst>
              <a:gd name="adj" fmla="val 7337"/>
            </a:avLst>
          </a:prstGeom>
          <a:solidFill>
            <a:srgbClr val="FDFCF8"/>
          </a:solidFill>
          <a:ln w="12700">
            <a:solidFill>
              <a:srgbClr val="9DB5A5"/>
            </a:solidFill>
            <a:prstDash val="dash"/>
          </a:ln>
        </p:spPr>
      </p:sp>
      <p:sp>
        <p:nvSpPr>
          <p:cNvPr id="5" name="Text 3"/>
          <p:cNvSpPr/>
          <p:nvPr/>
        </p:nvSpPr>
        <p:spPr>
          <a:xfrm>
            <a:off x="977900" y="2197050"/>
            <a:ext cx="2282635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1E7A46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1 · Home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977900" y="2473871"/>
            <a:ext cx="2282635" cy="5054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90"/>
              </a:lnSpc>
              <a:buNone/>
            </a:pPr>
            <a:r>
              <a:rPr lang="en-US" sz="1350" dirty="0">
                <a:solidFill>
                  <a:srgbClr val="1B2A22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Waste Classifier page with the upload area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3492500" y="2012900"/>
            <a:ext cx="2533650" cy="1125141"/>
          </a:xfrm>
          <a:prstGeom prst="roundRect">
            <a:avLst>
              <a:gd name="adj" fmla="val 7337"/>
            </a:avLst>
          </a:prstGeom>
          <a:solidFill>
            <a:srgbClr val="FDFCF8"/>
          </a:solidFill>
          <a:ln w="12700">
            <a:solidFill>
              <a:srgbClr val="9DB5A5"/>
            </a:solidFill>
            <a:prstDash val="dash"/>
          </a:ln>
        </p:spPr>
      </p:sp>
      <p:sp>
        <p:nvSpPr>
          <p:cNvPr id="8" name="Text 6"/>
          <p:cNvSpPr/>
          <p:nvPr/>
        </p:nvSpPr>
        <p:spPr>
          <a:xfrm>
            <a:off x="3651250" y="2197050"/>
            <a:ext cx="2282635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1E7A46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2 · Input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3651250" y="2473871"/>
            <a:ext cx="2282635" cy="5054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90"/>
              </a:lnSpc>
              <a:buNone/>
            </a:pPr>
            <a:r>
              <a:rPr lang="en-US" sz="1350" dirty="0">
                <a:solidFill>
                  <a:srgbClr val="1B2A22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Image chosen or dropped, with live preview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6165850" y="2012900"/>
            <a:ext cx="2533650" cy="1125141"/>
          </a:xfrm>
          <a:prstGeom prst="roundRect">
            <a:avLst>
              <a:gd name="adj" fmla="val 7337"/>
            </a:avLst>
          </a:prstGeom>
          <a:solidFill>
            <a:srgbClr val="FDFCF8"/>
          </a:solidFill>
          <a:ln w="12700">
            <a:solidFill>
              <a:srgbClr val="9DB5A5"/>
            </a:solidFill>
            <a:prstDash val="dash"/>
          </a:ln>
        </p:spPr>
      </p:sp>
      <p:sp>
        <p:nvSpPr>
          <p:cNvPr id="11" name="Text 9"/>
          <p:cNvSpPr/>
          <p:nvPr/>
        </p:nvSpPr>
        <p:spPr>
          <a:xfrm>
            <a:off x="6324600" y="2197050"/>
            <a:ext cx="2282635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1E7A46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3 · Processing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6324600" y="2473871"/>
            <a:ext cx="2282635" cy="5054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90"/>
              </a:lnSpc>
              <a:buNone/>
            </a:pPr>
            <a:r>
              <a:rPr lang="en-US" sz="1350" dirty="0">
                <a:solidFill>
                  <a:srgbClr val="1B2A22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Classify clicked, image sent to /predict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8839200" y="2012900"/>
            <a:ext cx="2533650" cy="1125141"/>
          </a:xfrm>
          <a:prstGeom prst="roundRect">
            <a:avLst>
              <a:gd name="adj" fmla="val 7337"/>
            </a:avLst>
          </a:prstGeom>
          <a:solidFill>
            <a:srgbClr val="FDFCF8"/>
          </a:solidFill>
          <a:ln w="12700">
            <a:solidFill>
              <a:srgbClr val="9DB5A5"/>
            </a:solidFill>
            <a:prstDash val="dash"/>
          </a:ln>
        </p:spPr>
      </p:sp>
      <p:sp>
        <p:nvSpPr>
          <p:cNvPr id="14" name="Text 12"/>
          <p:cNvSpPr/>
          <p:nvPr/>
        </p:nvSpPr>
        <p:spPr>
          <a:xfrm>
            <a:off x="8997950" y="2197050"/>
            <a:ext cx="2282635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1E7A46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4 · Result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8997950" y="2473871"/>
            <a:ext cx="2282635" cy="5054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90"/>
              </a:lnSpc>
              <a:buNone/>
            </a:pPr>
            <a:r>
              <a:rPr lang="en-US" sz="1350" dirty="0">
                <a:solidFill>
                  <a:srgbClr val="1B2A22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Predicted class and confidence shown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812800" y="3372991"/>
            <a:ext cx="10566400" cy="683220"/>
          </a:xfrm>
          <a:prstGeom prst="roundRect">
            <a:avLst>
              <a:gd name="adj" fmla="val 14871"/>
            </a:avLst>
          </a:prstGeom>
          <a:solidFill>
            <a:srgbClr val="14301F"/>
          </a:solidFill>
          <a:ln/>
        </p:spPr>
      </p:sp>
      <p:sp>
        <p:nvSpPr>
          <p:cNvPr id="17" name="Text 15"/>
          <p:cNvSpPr/>
          <p:nvPr/>
        </p:nvSpPr>
        <p:spPr>
          <a:xfrm>
            <a:off x="1066800" y="3607941"/>
            <a:ext cx="17018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00" kern="0" dirty="0">
                <a:solidFill>
                  <a:srgbClr val="7FD3A0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EXAMPLE OUTPUT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2895600" y="3563491"/>
            <a:ext cx="4532352" cy="3276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380"/>
              </a:lnSpc>
              <a:buNone/>
            </a:pPr>
            <a:r>
              <a:rPr lang="en-US" sz="1700" b="1" dirty="0">
                <a:solidFill>
                  <a:srgbClr val="F6F5EE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Predicted: Plastic · Confidence: 96.4%</a:t>
            </a:r>
            <a:endParaRPr lang="en-US" sz="1700" dirty="0"/>
          </a:p>
        </p:txBody>
      </p:sp>
      <p:sp>
        <p:nvSpPr>
          <p:cNvPr id="19" name="Text 17"/>
          <p:cNvSpPr/>
          <p:nvPr/>
        </p:nvSpPr>
        <p:spPr>
          <a:xfrm>
            <a:off x="812800" y="6238280"/>
            <a:ext cx="588645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C6860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Waste Classification · CNN &amp; Transfer Learning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10693400" y="6238280"/>
            <a:ext cx="6858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C6860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19</a:t>
            </a:r>
            <a:endParaRPr lang="en-US" sz="12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6F5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6679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5060"/>
              </a:lnSpc>
              <a:buNone/>
            </a:pPr>
            <a:r>
              <a:rPr lang="en-US" sz="4600" b="1" dirty="0">
                <a:solidFill>
                  <a:srgbClr val="1E7A46"/>
                </a:solidFill>
                <a:latin typeface="Domine" pitchFamily="18" charset="0"/>
                <a:ea typeface="Domine" pitchFamily="18" charset="-122"/>
                <a:cs typeface="Domine" pitchFamily="18" charset="-120"/>
              </a:rPr>
              <a:t>Advantages</a:t>
            </a:r>
            <a:endParaRPr lang="en-US" sz="4600" dirty="0"/>
          </a:p>
        </p:txBody>
      </p:sp>
      <p:sp>
        <p:nvSpPr>
          <p:cNvPr id="3" name="Text 1"/>
          <p:cNvSpPr/>
          <p:nvPr/>
        </p:nvSpPr>
        <p:spPr>
          <a:xfrm>
            <a:off x="812800" y="1518890"/>
            <a:ext cx="10883392" cy="2844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040"/>
              </a:lnSpc>
              <a:buNone/>
            </a:pPr>
            <a:r>
              <a:rPr lang="en-US" sz="1700" b="1" dirty="0">
                <a:solidFill>
                  <a:srgbClr val="14301F"/>
                </a:solidFill>
                <a:latin typeface="Domine" pitchFamily="18" charset="0"/>
                <a:ea typeface="Domine" pitchFamily="18" charset="-122"/>
                <a:cs typeface="Domine" pitchFamily="18" charset="-120"/>
              </a:rPr>
              <a:t>Better than sorting by hand</a:t>
            </a:r>
            <a:endParaRPr lang="en-US" sz="1700" dirty="0"/>
          </a:p>
        </p:txBody>
      </p:sp>
      <p:sp>
        <p:nvSpPr>
          <p:cNvPr id="4" name="Shape 2"/>
          <p:cNvSpPr/>
          <p:nvPr/>
        </p:nvSpPr>
        <p:spPr>
          <a:xfrm>
            <a:off x="815975" y="2009725"/>
            <a:ext cx="5200650" cy="1200100"/>
          </a:xfrm>
          <a:prstGeom prst="roundRect">
            <a:avLst>
              <a:gd name="adj" fmla="val 8201"/>
            </a:avLst>
          </a:prstGeom>
          <a:solidFill>
            <a:srgbClr val="FDFCF8"/>
          </a:solidFill>
          <a:ln w="6350">
            <a:solidFill>
              <a:srgbClr val="D8DFD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47750" y="2216100"/>
            <a:ext cx="4879213" cy="2692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14301F"/>
                </a:solidFill>
                <a:latin typeface="Domine" pitchFamily="18" charset="0"/>
                <a:ea typeface="Domine" pitchFamily="18" charset="-122"/>
                <a:cs typeface="Domine" pitchFamily="18" charset="-120"/>
              </a:rPr>
              <a:t>Accurate model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047750" y="2523430"/>
            <a:ext cx="4879213" cy="5054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90"/>
              </a:lnSpc>
              <a:buNone/>
            </a:pPr>
            <a:r>
              <a:rPr lang="en-US" sz="1350" dirty="0">
                <a:solidFill>
                  <a:srgbClr val="46544B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Learns shapes, textures and patterns; transfer learning works with limited data.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6175375" y="2009725"/>
            <a:ext cx="5200650" cy="1200100"/>
          </a:xfrm>
          <a:prstGeom prst="roundRect">
            <a:avLst>
              <a:gd name="adj" fmla="val 8201"/>
            </a:avLst>
          </a:prstGeom>
          <a:solidFill>
            <a:srgbClr val="FDFCF8"/>
          </a:solidFill>
          <a:ln w="6350">
            <a:solidFill>
              <a:srgbClr val="D8DFD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7150" y="2216100"/>
            <a:ext cx="4879213" cy="2692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14301F"/>
                </a:solidFill>
                <a:latin typeface="Domine" pitchFamily="18" charset="0"/>
                <a:ea typeface="Domine" pitchFamily="18" charset="-122"/>
                <a:cs typeface="Domine" pitchFamily="18" charset="-120"/>
              </a:rPr>
              <a:t>Easy to use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6407150" y="2523430"/>
            <a:ext cx="4879213" cy="26541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90"/>
              </a:lnSpc>
              <a:buNone/>
            </a:pPr>
            <a:r>
              <a:rPr lang="en-US" sz="1350" dirty="0">
                <a:solidFill>
                  <a:srgbClr val="46544B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A single click from any browser, with no training needed.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815975" y="3368576"/>
            <a:ext cx="5200650" cy="1200100"/>
          </a:xfrm>
          <a:prstGeom prst="roundRect">
            <a:avLst>
              <a:gd name="adj" fmla="val 8201"/>
            </a:avLst>
          </a:prstGeom>
          <a:solidFill>
            <a:srgbClr val="FDFCF8"/>
          </a:solidFill>
          <a:ln w="6350">
            <a:solidFill>
              <a:srgbClr val="D8DFD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047750" y="3574951"/>
            <a:ext cx="4879213" cy="2692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14301F"/>
                </a:solidFill>
                <a:latin typeface="Domine" pitchFamily="18" charset="0"/>
                <a:ea typeface="Domine" pitchFamily="18" charset="-122"/>
                <a:cs typeface="Domine" pitchFamily="18" charset="-120"/>
              </a:rPr>
              <a:t>Low cost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047750" y="3882281"/>
            <a:ext cx="4879213" cy="5054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90"/>
              </a:lnSpc>
              <a:buNone/>
            </a:pPr>
            <a:r>
              <a:rPr lang="en-US" sz="1350" dirty="0">
                <a:solidFill>
                  <a:srgbClr val="46544B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No special hardware; lightweight models such as MobileNetV2 are possible.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6172200" y="3365401"/>
            <a:ext cx="5207000" cy="1206450"/>
          </a:xfrm>
          <a:prstGeom prst="roundRect">
            <a:avLst>
              <a:gd name="adj" fmla="val 8421"/>
            </a:avLst>
          </a:prstGeom>
          <a:solidFill>
            <a:srgbClr val="14301F"/>
          </a:solidFill>
          <a:ln/>
        </p:spPr>
      </p:sp>
      <p:sp>
        <p:nvSpPr>
          <p:cNvPr id="14" name="Text 12"/>
          <p:cNvSpPr/>
          <p:nvPr/>
        </p:nvSpPr>
        <p:spPr>
          <a:xfrm>
            <a:off x="6400800" y="3568601"/>
            <a:ext cx="4892294" cy="2692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F6F5EE"/>
                </a:solidFill>
                <a:latin typeface="Domine" pitchFamily="18" charset="0"/>
                <a:ea typeface="Domine" pitchFamily="18" charset="-122"/>
                <a:cs typeface="Domine" pitchFamily="18" charset="-120"/>
              </a:rPr>
              <a:t>Greener recycling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6400800" y="3875931"/>
            <a:ext cx="4892294" cy="5054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90"/>
              </a:lnSpc>
              <a:buNone/>
            </a:pPr>
            <a:r>
              <a:rPr lang="en-US" sz="1350" dirty="0">
                <a:solidFill>
                  <a:srgbClr val="C9DCCF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Less manual segregation, faster sorting, better environmental management.</a:t>
            </a:r>
            <a:endParaRPr lang="en-US" sz="1350" dirty="0"/>
          </a:p>
        </p:txBody>
      </p:sp>
      <p:sp>
        <p:nvSpPr>
          <p:cNvPr id="16" name="Text 14"/>
          <p:cNvSpPr/>
          <p:nvPr/>
        </p:nvSpPr>
        <p:spPr>
          <a:xfrm>
            <a:off x="812800" y="6238280"/>
            <a:ext cx="588645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C6860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Waste Classification · CNN &amp; Transfer Learning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10693400" y="6238280"/>
            <a:ext cx="6858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C6860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20</a:t>
            </a:r>
            <a:endParaRPr lang="en-US" sz="12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6F5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6679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5060"/>
              </a:lnSpc>
              <a:buNone/>
            </a:pPr>
            <a:r>
              <a:rPr lang="en-US" sz="4600" b="1" dirty="0">
                <a:solidFill>
                  <a:srgbClr val="1E7A46"/>
                </a:solidFill>
                <a:latin typeface="Domine" pitchFamily="18" charset="0"/>
                <a:ea typeface="Domine" pitchFamily="18" charset="-122"/>
                <a:cs typeface="Domine" pitchFamily="18" charset="-120"/>
              </a:rPr>
              <a:t>Applications</a:t>
            </a:r>
            <a:endParaRPr lang="en-US" sz="4600" dirty="0"/>
          </a:p>
        </p:txBody>
      </p:sp>
      <p:sp>
        <p:nvSpPr>
          <p:cNvPr id="3" name="Text 1"/>
          <p:cNvSpPr/>
          <p:nvPr/>
        </p:nvSpPr>
        <p:spPr>
          <a:xfrm>
            <a:off x="812800" y="1518890"/>
            <a:ext cx="10883392" cy="2844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040"/>
              </a:lnSpc>
              <a:buNone/>
            </a:pPr>
            <a:r>
              <a:rPr lang="en-US" sz="1700" b="1" dirty="0">
                <a:solidFill>
                  <a:srgbClr val="14301F"/>
                </a:solidFill>
                <a:latin typeface="Domine" pitchFamily="18" charset="0"/>
                <a:ea typeface="Domine" pitchFamily="18" charset="-122"/>
                <a:cs typeface="Domine" pitchFamily="18" charset="-120"/>
              </a:rPr>
              <a:t>Where it can be used</a:t>
            </a:r>
            <a:endParaRPr lang="en-US" sz="1700" dirty="0"/>
          </a:p>
        </p:txBody>
      </p:sp>
      <p:sp>
        <p:nvSpPr>
          <p:cNvPr id="4" name="Shape 2"/>
          <p:cNvSpPr/>
          <p:nvPr/>
        </p:nvSpPr>
        <p:spPr>
          <a:xfrm>
            <a:off x="815975" y="2009725"/>
            <a:ext cx="5181600" cy="2132310"/>
          </a:xfrm>
          <a:prstGeom prst="roundRect">
            <a:avLst>
              <a:gd name="adj" fmla="val 4616"/>
            </a:avLst>
          </a:prstGeom>
          <a:solidFill>
            <a:srgbClr val="FDFCF8"/>
          </a:solidFill>
          <a:ln w="6350">
            <a:solidFill>
              <a:srgbClr val="D8DFD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73150" y="2241500"/>
            <a:ext cx="4807268" cy="2844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040"/>
              </a:lnSpc>
              <a:buNone/>
            </a:pPr>
            <a:r>
              <a:rPr lang="en-US" sz="1700" b="1" dirty="0">
                <a:solidFill>
                  <a:srgbClr val="14301F"/>
                </a:solidFill>
                <a:latin typeface="Domine" pitchFamily="18" charset="0"/>
                <a:ea typeface="Domine" pitchFamily="18" charset="-122"/>
                <a:cs typeface="Domine" pitchFamily="18" charset="-120"/>
              </a:rPr>
              <a:t>Real-world uses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1081532" y="2589461"/>
            <a:ext cx="4793552" cy="1092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169418" indent="-169418">
              <a:lnSpc>
                <a:spcPts val="2100"/>
              </a:lnSpc>
              <a:buSzPct val="100000"/>
              <a:buChar char="•"/>
            </a:pPr>
            <a:r>
              <a:rPr lang="en-US" sz="1400" dirty="0">
                <a:solidFill>
                  <a:srgbClr val="46544B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Waste segregation at homes, apartments and campuses</a:t>
            </a:r>
            <a:endParaRPr lang="en-US" sz="1400" dirty="0"/>
          </a:p>
          <a:p>
            <a:pPr algn="l" marL="169418" indent="-169418">
              <a:lnSpc>
                <a:spcPts val="2100"/>
              </a:lnSpc>
              <a:buSzPct val="100000"/>
              <a:buChar char="•"/>
            </a:pPr>
            <a:r>
              <a:rPr lang="en-US" sz="1400" dirty="0">
                <a:solidFill>
                  <a:srgbClr val="46544B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Support tool at small recycling centres</a:t>
            </a:r>
            <a:endParaRPr lang="en-US" sz="1400" dirty="0"/>
          </a:p>
          <a:p>
            <a:pPr algn="l" marL="169418" indent="-169418">
              <a:lnSpc>
                <a:spcPts val="2100"/>
              </a:lnSpc>
              <a:buSzPct val="100000"/>
              <a:buChar char="•"/>
            </a:pPr>
            <a:r>
              <a:rPr lang="en-US" sz="1400" dirty="0">
                <a:solidFill>
                  <a:srgbClr val="46544B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Recycling awareness and education</a:t>
            </a:r>
            <a:endParaRPr lang="en-US" sz="1400" dirty="0"/>
          </a:p>
          <a:p>
            <a:pPr algn="l" marL="169418" indent="-169418">
              <a:lnSpc>
                <a:spcPts val="2100"/>
              </a:lnSpc>
              <a:buSzPct val="100000"/>
              <a:buChar char="•"/>
            </a:pPr>
            <a:r>
              <a:rPr lang="en-US" sz="1400" dirty="0">
                <a:solidFill>
                  <a:srgbClr val="46544B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Base for smart bins and mobile apps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6203950" y="2006550"/>
            <a:ext cx="5175250" cy="2138660"/>
          </a:xfrm>
          <a:prstGeom prst="roundRect">
            <a:avLst>
              <a:gd name="adj" fmla="val 4751"/>
            </a:avLst>
          </a:prstGeom>
          <a:solidFill>
            <a:srgbClr val="14301F"/>
          </a:solidFill>
          <a:ln/>
        </p:spPr>
      </p:sp>
      <p:sp>
        <p:nvSpPr>
          <p:cNvPr id="8" name="Text 6"/>
          <p:cNvSpPr/>
          <p:nvPr/>
        </p:nvSpPr>
        <p:spPr>
          <a:xfrm>
            <a:off x="6457950" y="2235150"/>
            <a:ext cx="4807268" cy="2844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040"/>
              </a:lnSpc>
              <a:buNone/>
            </a:pPr>
            <a:r>
              <a:rPr lang="en-US" sz="1700" b="1" dirty="0">
                <a:solidFill>
                  <a:srgbClr val="F6F5EE"/>
                </a:solidFill>
                <a:latin typeface="Domine" pitchFamily="18" charset="0"/>
                <a:ea typeface="Domine" pitchFamily="18" charset="-122"/>
                <a:cs typeface="Domine" pitchFamily="18" charset="-120"/>
              </a:rPr>
              <a:t>Target users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6466332" y="2583111"/>
            <a:ext cx="4793552" cy="1358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169418" indent="-169418">
              <a:lnSpc>
                <a:spcPts val="2100"/>
              </a:lnSpc>
              <a:buSzPct val="100000"/>
              <a:buChar char="•"/>
            </a:pPr>
            <a:r>
              <a:rPr lang="en-US" sz="1400" dirty="0">
                <a:solidFill>
                  <a:srgbClr val="C9DCCF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Residents and communities</a:t>
            </a:r>
            <a:endParaRPr lang="en-US" sz="1400" dirty="0"/>
          </a:p>
          <a:p>
            <a:pPr algn="l" marL="169418" indent="-169418">
              <a:lnSpc>
                <a:spcPts val="2100"/>
              </a:lnSpc>
              <a:buSzPct val="100000"/>
              <a:buChar char="•"/>
            </a:pPr>
            <a:r>
              <a:rPr lang="en-US" sz="1400" dirty="0">
                <a:solidFill>
                  <a:srgbClr val="C9DCCF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Schools and colleges</a:t>
            </a:r>
            <a:endParaRPr lang="en-US" sz="1400" dirty="0"/>
          </a:p>
          <a:p>
            <a:pPr algn="l" marL="169418" indent="-169418">
              <a:lnSpc>
                <a:spcPts val="2100"/>
              </a:lnSpc>
              <a:buSzPct val="100000"/>
              <a:buChar char="•"/>
            </a:pPr>
            <a:r>
              <a:rPr lang="en-US" sz="1400" dirty="0">
                <a:solidFill>
                  <a:srgbClr val="C9DCCF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Municipal and waste-management bodies</a:t>
            </a:r>
            <a:endParaRPr lang="en-US" sz="1400" dirty="0"/>
          </a:p>
          <a:p>
            <a:pPr algn="l" marL="169418" indent="-169418">
              <a:lnSpc>
                <a:spcPts val="2100"/>
              </a:lnSpc>
              <a:buSzPct val="100000"/>
              <a:buChar char="•"/>
            </a:pPr>
            <a:r>
              <a:rPr lang="en-US" sz="1400" dirty="0">
                <a:solidFill>
                  <a:srgbClr val="C9DCCF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Recycling centres</a:t>
            </a:r>
            <a:endParaRPr lang="en-US" sz="1400" dirty="0"/>
          </a:p>
          <a:p>
            <a:pPr algn="l" marL="169418" indent="-169418">
              <a:lnSpc>
                <a:spcPts val="2100"/>
              </a:lnSpc>
              <a:buSzPct val="100000"/>
              <a:buChar char="•"/>
            </a:pPr>
            <a:r>
              <a:rPr lang="en-US" sz="1400" dirty="0">
                <a:solidFill>
                  <a:srgbClr val="C9DCCF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Environmental organisations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812800" y="6238280"/>
            <a:ext cx="588645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C6860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Waste Classification · CNN &amp; Transfer Learning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10693400" y="6238280"/>
            <a:ext cx="6858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C6860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21</a:t>
            </a:r>
            <a:endParaRPr lang="en-US" sz="12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6F5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6679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5060"/>
              </a:lnSpc>
              <a:buNone/>
            </a:pPr>
            <a:r>
              <a:rPr lang="en-US" sz="4600" b="1" dirty="0">
                <a:solidFill>
                  <a:srgbClr val="1E7A46"/>
                </a:solidFill>
                <a:latin typeface="Domine" pitchFamily="18" charset="0"/>
                <a:ea typeface="Domine" pitchFamily="18" charset="-122"/>
                <a:cs typeface="Domine" pitchFamily="18" charset="-120"/>
              </a:rPr>
              <a:t>Limitations</a:t>
            </a:r>
            <a:endParaRPr lang="en-US" sz="4600" dirty="0"/>
          </a:p>
        </p:txBody>
      </p:sp>
      <p:sp>
        <p:nvSpPr>
          <p:cNvPr id="3" name="Text 1"/>
          <p:cNvSpPr/>
          <p:nvPr/>
        </p:nvSpPr>
        <p:spPr>
          <a:xfrm>
            <a:off x="812800" y="1518890"/>
            <a:ext cx="10883392" cy="2844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040"/>
              </a:lnSpc>
              <a:buNone/>
            </a:pPr>
            <a:r>
              <a:rPr lang="en-US" sz="1700" b="1" dirty="0">
                <a:solidFill>
                  <a:srgbClr val="14301F"/>
                </a:solidFill>
                <a:latin typeface="Domine" pitchFamily="18" charset="0"/>
                <a:ea typeface="Domine" pitchFamily="18" charset="-122"/>
                <a:cs typeface="Domine" pitchFamily="18" charset="-120"/>
              </a:rPr>
              <a:t>What the system cannot do yet</a:t>
            </a:r>
            <a:endParaRPr lang="en-US" sz="1700" dirty="0"/>
          </a:p>
        </p:txBody>
      </p:sp>
      <p:sp>
        <p:nvSpPr>
          <p:cNvPr id="4" name="Shape 2"/>
          <p:cNvSpPr/>
          <p:nvPr/>
        </p:nvSpPr>
        <p:spPr>
          <a:xfrm>
            <a:off x="815975" y="2009725"/>
            <a:ext cx="5175250" cy="2303066"/>
          </a:xfrm>
          <a:prstGeom prst="roundRect">
            <a:avLst>
              <a:gd name="adj" fmla="val 4274"/>
            </a:avLst>
          </a:prstGeom>
          <a:solidFill>
            <a:srgbClr val="FDFCF8"/>
          </a:solidFill>
          <a:ln w="6350">
            <a:solidFill>
              <a:srgbClr val="D8DFD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73150" y="2241500"/>
            <a:ext cx="4800727" cy="2844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040"/>
              </a:lnSpc>
              <a:buNone/>
            </a:pPr>
            <a:r>
              <a:rPr lang="en-US" sz="1700" b="1" dirty="0">
                <a:solidFill>
                  <a:srgbClr val="14301F"/>
                </a:solidFill>
                <a:latin typeface="Domine" pitchFamily="18" charset="0"/>
                <a:ea typeface="Domine" pitchFamily="18" charset="-122"/>
                <a:cs typeface="Domine" pitchFamily="18" charset="-120"/>
              </a:rPr>
              <a:t>Current limitations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1081913" y="2589461"/>
            <a:ext cx="4786630" cy="12683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169037" indent="-169037">
              <a:lnSpc>
                <a:spcPts val="1958"/>
              </a:lnSpc>
              <a:buSzPct val="100000"/>
              <a:buChar char="•"/>
            </a:pPr>
            <a:r>
              <a:rPr lang="en-US" sz="1350" dirty="0">
                <a:solidFill>
                  <a:srgbClr val="46544B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Only the 7 trained classes; unknown items get forced into one</a:t>
            </a:r>
            <a:endParaRPr lang="en-US" sz="1350" dirty="0"/>
          </a:p>
          <a:p>
            <a:pPr algn="l" marL="169037" indent="-169037">
              <a:lnSpc>
                <a:spcPts val="1958"/>
              </a:lnSpc>
              <a:buSzPct val="100000"/>
              <a:buChar char="•"/>
            </a:pPr>
            <a:r>
              <a:rPr lang="en-US" sz="1350" dirty="0">
                <a:solidFill>
                  <a:srgbClr val="46544B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One item per photo; mixed piles are not handled</a:t>
            </a:r>
            <a:endParaRPr lang="en-US" sz="1350" dirty="0"/>
          </a:p>
          <a:p>
            <a:pPr algn="l" marL="169037" indent="-169037">
              <a:lnSpc>
                <a:spcPts val="1958"/>
              </a:lnSpc>
              <a:buSzPct val="100000"/>
              <a:buChar char="•"/>
            </a:pPr>
            <a:r>
              <a:rPr lang="en-US" sz="1350" dirty="0">
                <a:solidFill>
                  <a:srgbClr val="46544B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Decision-support tool, not a certified sorter</a:t>
            </a:r>
            <a:endParaRPr lang="en-US" sz="1350" dirty="0"/>
          </a:p>
          <a:p>
            <a:pPr algn="l" marL="169037" indent="-169037">
              <a:lnSpc>
                <a:spcPts val="1958"/>
              </a:lnSpc>
              <a:buSzPct val="100000"/>
              <a:buChar char="•"/>
            </a:pPr>
            <a:r>
              <a:rPr lang="en-US" sz="1350" dirty="0">
                <a:solidFill>
                  <a:srgbClr val="46544B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Hazardous, medical and e-waste are out of scope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6200775" y="2009725"/>
            <a:ext cx="5175250" cy="2303066"/>
          </a:xfrm>
          <a:prstGeom prst="roundRect">
            <a:avLst>
              <a:gd name="adj" fmla="val 4274"/>
            </a:avLst>
          </a:prstGeom>
          <a:solidFill>
            <a:srgbClr val="FDFCF8"/>
          </a:solidFill>
          <a:ln w="6350">
            <a:solidFill>
              <a:srgbClr val="D8DFD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57950" y="2241500"/>
            <a:ext cx="4800727" cy="2844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040"/>
              </a:lnSpc>
              <a:buNone/>
            </a:pPr>
            <a:r>
              <a:rPr lang="en-US" sz="1700" b="1" dirty="0">
                <a:solidFill>
                  <a:srgbClr val="14301F"/>
                </a:solidFill>
                <a:latin typeface="Domine" pitchFamily="18" charset="0"/>
                <a:ea typeface="Domine" pitchFamily="18" charset="-122"/>
                <a:cs typeface="Domine" pitchFamily="18" charset="-120"/>
              </a:rPr>
              <a:t>Data and technical limits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6466713" y="2589461"/>
            <a:ext cx="4786630" cy="151695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169037" indent="-169037">
              <a:lnSpc>
                <a:spcPts val="1958"/>
              </a:lnSpc>
              <a:buSzPct val="100000"/>
              <a:buChar char="•"/>
            </a:pPr>
            <a:r>
              <a:rPr lang="en-US" sz="1350" dirty="0">
                <a:solidFill>
                  <a:srgbClr val="46544B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TrashNet-type images use plain backgrounds, so cluttered photos may lose accuracy</a:t>
            </a:r>
            <a:endParaRPr lang="en-US" sz="1350" dirty="0"/>
          </a:p>
          <a:p>
            <a:pPr algn="l" marL="169037" indent="-169037">
              <a:lnSpc>
                <a:spcPts val="1958"/>
              </a:lnSpc>
              <a:buSzPct val="100000"/>
              <a:buChar char="•"/>
            </a:pPr>
            <a:r>
              <a:rPr lang="en-US" sz="1350" dirty="0">
                <a:solidFill>
                  <a:srgbClr val="46544B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Paper vs cardboard and glass vs plastic are easily confused</a:t>
            </a:r>
            <a:endParaRPr lang="en-US" sz="1350" dirty="0"/>
          </a:p>
          <a:p>
            <a:pPr algn="l" marL="169037" indent="-169037">
              <a:lnSpc>
                <a:spcPts val="1958"/>
              </a:lnSpc>
              <a:buSzPct val="100000"/>
              <a:buChar char="•"/>
            </a:pPr>
            <a:r>
              <a:rPr lang="en-US" sz="1350" dirty="0">
                <a:solidFill>
                  <a:srgbClr val="46544B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Trash is typically under-represented</a:t>
            </a:r>
            <a:endParaRPr lang="en-US" sz="1350" dirty="0"/>
          </a:p>
          <a:p>
            <a:pPr algn="l" marL="169037" indent="-169037">
              <a:lnSpc>
                <a:spcPts val="1958"/>
              </a:lnSpc>
              <a:buSzPct val="100000"/>
              <a:buChar char="•"/>
            </a:pPr>
            <a:r>
              <a:rPr lang="en-US" sz="1350" dirty="0">
                <a:solidFill>
                  <a:srgbClr val="46544B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Speed depends on server hardware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812800" y="6238280"/>
            <a:ext cx="588645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C6860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Waste Classification · CNN &amp; Transfer Learning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10693400" y="6238280"/>
            <a:ext cx="6858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C6860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22</a:t>
            </a:r>
            <a:endParaRPr lang="en-US" sz="12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6F5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6679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5060"/>
              </a:lnSpc>
              <a:buNone/>
            </a:pPr>
            <a:r>
              <a:rPr lang="en-US" sz="4600" b="1" dirty="0">
                <a:solidFill>
                  <a:srgbClr val="1E7A46"/>
                </a:solidFill>
                <a:latin typeface="Domine" pitchFamily="18" charset="0"/>
                <a:ea typeface="Domine" pitchFamily="18" charset="-122"/>
                <a:cs typeface="Domine" pitchFamily="18" charset="-120"/>
              </a:rPr>
              <a:t>Future scope</a:t>
            </a:r>
            <a:endParaRPr lang="en-US" sz="4600" dirty="0"/>
          </a:p>
        </p:txBody>
      </p:sp>
      <p:sp>
        <p:nvSpPr>
          <p:cNvPr id="3" name="Text 1"/>
          <p:cNvSpPr/>
          <p:nvPr/>
        </p:nvSpPr>
        <p:spPr>
          <a:xfrm>
            <a:off x="812800" y="1518890"/>
            <a:ext cx="10883392" cy="2844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040"/>
              </a:lnSpc>
              <a:buNone/>
            </a:pPr>
            <a:r>
              <a:rPr lang="en-US" sz="1700" b="1" dirty="0">
                <a:solidFill>
                  <a:srgbClr val="14301F"/>
                </a:solidFill>
                <a:latin typeface="Domine" pitchFamily="18" charset="0"/>
                <a:ea typeface="Domine" pitchFamily="18" charset="-122"/>
                <a:cs typeface="Domine" pitchFamily="18" charset="-120"/>
              </a:rPr>
              <a:t>Where the project can go next</a:t>
            </a:r>
            <a:endParaRPr lang="en-US" sz="1700" dirty="0"/>
          </a:p>
        </p:txBody>
      </p:sp>
      <p:sp>
        <p:nvSpPr>
          <p:cNvPr id="4" name="Shape 2"/>
          <p:cNvSpPr/>
          <p:nvPr/>
        </p:nvSpPr>
        <p:spPr>
          <a:xfrm>
            <a:off x="812800" y="2051000"/>
            <a:ext cx="3386634" cy="0"/>
          </a:xfrm>
          <a:prstGeom prst="line">
            <a:avLst/>
          </a:prstGeom>
          <a:noFill/>
          <a:ln w="38100">
            <a:solidFill>
              <a:srgbClr val="1E7A4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12800" y="2247850"/>
            <a:ext cx="3435909" cy="2996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14301F"/>
                </a:solidFill>
                <a:latin typeface="Domine" pitchFamily="18" charset="0"/>
                <a:ea typeface="Domine" pitchFamily="18" charset="-122"/>
                <a:cs typeface="Domine" pitchFamily="18" charset="-120"/>
              </a:rPr>
              <a:t>Improvements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812800" y="2611041"/>
            <a:ext cx="3435909" cy="79871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030"/>
              </a:lnSpc>
              <a:buNone/>
            </a:pPr>
            <a:r>
              <a:rPr lang="en-US" sz="1450" dirty="0">
                <a:solidFill>
                  <a:srgbClr val="46544B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A larger, more varied real-world dataset, more waste categories, and multi-object detection for mixed piles.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4402634" y="2051000"/>
            <a:ext cx="3386683" cy="0"/>
          </a:xfrm>
          <a:prstGeom prst="line">
            <a:avLst/>
          </a:prstGeom>
          <a:noFill/>
          <a:ln w="38100">
            <a:solidFill>
              <a:srgbClr val="1E7A4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402634" y="2247850"/>
            <a:ext cx="3435960" cy="2996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14301F"/>
                </a:solidFill>
                <a:latin typeface="Domine" pitchFamily="18" charset="0"/>
                <a:ea typeface="Domine" pitchFamily="18" charset="-122"/>
                <a:cs typeface="Domine" pitchFamily="18" charset="-120"/>
              </a:rPr>
              <a:t>New features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4402634" y="2611041"/>
            <a:ext cx="3435960" cy="79871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030"/>
              </a:lnSpc>
              <a:buNone/>
            </a:pPr>
            <a:r>
              <a:rPr lang="en-US" sz="1450" dirty="0">
                <a:solidFill>
                  <a:srgbClr val="46544B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A mobile app, a dashboard analysing the stored prediction history, and disposal guidance for each category.</a:t>
            </a:r>
            <a:endParaRPr lang="en-US" sz="1450" dirty="0"/>
          </a:p>
        </p:txBody>
      </p:sp>
      <p:sp>
        <p:nvSpPr>
          <p:cNvPr id="10" name="Shape 8"/>
          <p:cNvSpPr/>
          <p:nvPr/>
        </p:nvSpPr>
        <p:spPr>
          <a:xfrm>
            <a:off x="7992517" y="2051000"/>
            <a:ext cx="3386683" cy="0"/>
          </a:xfrm>
          <a:prstGeom prst="line">
            <a:avLst/>
          </a:prstGeom>
          <a:noFill/>
          <a:ln w="38100">
            <a:solidFill>
              <a:srgbClr val="1E7A4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992517" y="2247850"/>
            <a:ext cx="3435960" cy="2996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14301F"/>
                </a:solidFill>
                <a:latin typeface="Domine" pitchFamily="18" charset="0"/>
                <a:ea typeface="Domine" pitchFamily="18" charset="-122"/>
                <a:cs typeface="Domine" pitchFamily="18" charset="-120"/>
              </a:rPr>
              <a:t>Deployment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7992517" y="2611041"/>
            <a:ext cx="3435960" cy="10564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030"/>
              </a:lnSpc>
              <a:buNone/>
            </a:pPr>
            <a:r>
              <a:rPr lang="en-US" sz="1450" dirty="0">
                <a:solidFill>
                  <a:srgbClr val="46544B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An edge device or phone with a lightweight MobileNetV2, a cloud-hosted API, and a larger database than SQLite.</a:t>
            </a:r>
            <a:endParaRPr lang="en-US" sz="1450" dirty="0"/>
          </a:p>
        </p:txBody>
      </p:sp>
      <p:sp>
        <p:nvSpPr>
          <p:cNvPr id="13" name="Text 11"/>
          <p:cNvSpPr/>
          <p:nvPr/>
        </p:nvSpPr>
        <p:spPr>
          <a:xfrm>
            <a:off x="812800" y="6238280"/>
            <a:ext cx="588645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C6860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Waste Classification · CNN &amp; Transfer Learning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10693400" y="6238280"/>
            <a:ext cx="6858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C6860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23</a:t>
            </a:r>
            <a:endParaRPr lang="en-US" sz="12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1430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6679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5060"/>
              </a:lnSpc>
              <a:buNone/>
            </a:pPr>
            <a:r>
              <a:rPr lang="en-US" sz="4600" b="1" dirty="0">
                <a:solidFill>
                  <a:srgbClr val="7FD3A0"/>
                </a:solidFill>
                <a:latin typeface="Domine" pitchFamily="18" charset="0"/>
                <a:ea typeface="Domine" pitchFamily="18" charset="-122"/>
                <a:cs typeface="Domine" pitchFamily="18" charset="-120"/>
              </a:rPr>
              <a:t>Conclusion</a:t>
            </a:r>
            <a:endParaRPr lang="en-US" sz="4600" dirty="0"/>
          </a:p>
        </p:txBody>
      </p:sp>
      <p:sp>
        <p:nvSpPr>
          <p:cNvPr id="3" name="Text 1"/>
          <p:cNvSpPr/>
          <p:nvPr/>
        </p:nvSpPr>
        <p:spPr>
          <a:xfrm>
            <a:off x="812800" y="1518890"/>
            <a:ext cx="10883392" cy="2844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040"/>
              </a:lnSpc>
              <a:buNone/>
            </a:pPr>
            <a:r>
              <a:rPr lang="en-US" sz="1700" b="1" dirty="0">
                <a:solidFill>
                  <a:srgbClr val="F6F5EE"/>
                </a:solidFill>
                <a:latin typeface="Domine" pitchFamily="18" charset="0"/>
                <a:ea typeface="Domine" pitchFamily="18" charset="-122"/>
                <a:cs typeface="Domine" pitchFamily="18" charset="-120"/>
              </a:rPr>
              <a:t>Waste sorting in a single click</a:t>
            </a:r>
            <a:endParaRPr lang="en-US" sz="1700" dirty="0"/>
          </a:p>
        </p:txBody>
      </p:sp>
      <p:sp>
        <p:nvSpPr>
          <p:cNvPr id="4" name="Shape 2"/>
          <p:cNvSpPr/>
          <p:nvPr/>
        </p:nvSpPr>
        <p:spPr>
          <a:xfrm>
            <a:off x="812800" y="2095450"/>
            <a:ext cx="3352800" cy="0"/>
          </a:xfrm>
          <a:prstGeom prst="line">
            <a:avLst/>
          </a:prstGeom>
          <a:noFill/>
          <a:ln w="25400">
            <a:solidFill>
              <a:srgbClr val="7FD3A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12800" y="2260550"/>
            <a:ext cx="3453384" cy="2692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7FD3A0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What we achieved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812800" y="2593280"/>
            <a:ext cx="3453384" cy="10564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030"/>
              </a:lnSpc>
              <a:buNone/>
            </a:pPr>
            <a:r>
              <a:rPr lang="en-US" sz="1450" dirty="0">
                <a:solidFill>
                  <a:srgbClr val="E4EDE6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A transfer-learning CNN (MobileNetV2, ResNet50, EfficientNetB0) trained on 7 waste classes and served through Flask and a web front end.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4419600" y="2095450"/>
            <a:ext cx="3352800" cy="0"/>
          </a:xfrm>
          <a:prstGeom prst="line">
            <a:avLst/>
          </a:prstGeom>
          <a:noFill/>
          <a:ln w="25400">
            <a:solidFill>
              <a:srgbClr val="7FD3A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419600" y="2260550"/>
            <a:ext cx="3453384" cy="2692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7FD3A0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Key outcome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4419600" y="2593280"/>
            <a:ext cx="3453384" cy="79871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030"/>
              </a:lnSpc>
              <a:buNone/>
            </a:pPr>
            <a:r>
              <a:rPr lang="en-US" sz="1450" dirty="0">
                <a:solidFill>
                  <a:srgbClr val="E4EDE6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Users get the waste category and a confidence score within seconds, with no manual sorting.</a:t>
            </a:r>
            <a:endParaRPr lang="en-US" sz="1450" dirty="0"/>
          </a:p>
        </p:txBody>
      </p:sp>
      <p:sp>
        <p:nvSpPr>
          <p:cNvPr id="10" name="Shape 8"/>
          <p:cNvSpPr/>
          <p:nvPr/>
        </p:nvSpPr>
        <p:spPr>
          <a:xfrm>
            <a:off x="8026400" y="2095450"/>
            <a:ext cx="3352800" cy="0"/>
          </a:xfrm>
          <a:prstGeom prst="line">
            <a:avLst/>
          </a:prstGeom>
          <a:noFill/>
          <a:ln w="25400">
            <a:solidFill>
              <a:srgbClr val="7FD3A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026400" y="2260550"/>
            <a:ext cx="3453384" cy="2692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7FD3A0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Contribution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8026400" y="2593280"/>
            <a:ext cx="3453384" cy="10564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030"/>
              </a:lnSpc>
              <a:buNone/>
            </a:pPr>
            <a:r>
              <a:rPr lang="en-US" sz="1450" dirty="0">
                <a:solidFill>
                  <a:srgbClr val="E4EDE6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Shows that transfer learning plus a simple web front end makes waste identification accessible and supports faster, more reliable recycling.</a:t>
            </a:r>
            <a:endParaRPr lang="en-US" sz="1450" dirty="0"/>
          </a:p>
        </p:txBody>
      </p:sp>
      <p:sp>
        <p:nvSpPr>
          <p:cNvPr id="13" name="Text 11"/>
          <p:cNvSpPr/>
          <p:nvPr/>
        </p:nvSpPr>
        <p:spPr>
          <a:xfrm>
            <a:off x="812800" y="6238280"/>
            <a:ext cx="588645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9DB5A5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Waste Classification · CNN &amp; Transfer Learning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10693400" y="6238280"/>
            <a:ext cx="6858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9DB5A5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24</a:t>
            </a:r>
            <a:endParaRPr lang="en-US" sz="12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6F5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6679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5060"/>
              </a:lnSpc>
              <a:buNone/>
            </a:pPr>
            <a:r>
              <a:rPr lang="en-US" sz="4600" b="1" dirty="0">
                <a:solidFill>
                  <a:srgbClr val="1E7A46"/>
                </a:solidFill>
                <a:latin typeface="Domine" pitchFamily="18" charset="0"/>
                <a:ea typeface="Domine" pitchFamily="18" charset="-122"/>
                <a:cs typeface="Domine" pitchFamily="18" charset="-120"/>
              </a:rPr>
              <a:t>References</a:t>
            </a:r>
            <a:endParaRPr lang="en-US" sz="4600" dirty="0"/>
          </a:p>
        </p:txBody>
      </p:sp>
      <p:sp>
        <p:nvSpPr>
          <p:cNvPr id="3" name="Text 1"/>
          <p:cNvSpPr/>
          <p:nvPr/>
        </p:nvSpPr>
        <p:spPr>
          <a:xfrm>
            <a:off x="812800" y="1518890"/>
            <a:ext cx="10883392" cy="2844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040"/>
              </a:lnSpc>
              <a:buNone/>
            </a:pPr>
            <a:r>
              <a:rPr lang="en-US" sz="1700" b="1" dirty="0">
                <a:solidFill>
                  <a:srgbClr val="14301F"/>
                </a:solidFill>
                <a:latin typeface="Domine" pitchFamily="18" charset="0"/>
                <a:ea typeface="Domine" pitchFamily="18" charset="-122"/>
                <a:cs typeface="Domine" pitchFamily="18" charset="-120"/>
              </a:rPr>
              <a:t>Sources</a:t>
            </a:r>
            <a:endParaRPr lang="en-US" sz="1700" dirty="0"/>
          </a:p>
        </p:txBody>
      </p:sp>
      <p:sp>
        <p:nvSpPr>
          <p:cNvPr id="4" name="Text 2"/>
          <p:cNvSpPr/>
          <p:nvPr/>
        </p:nvSpPr>
        <p:spPr>
          <a:xfrm>
            <a:off x="862211" y="2006550"/>
            <a:ext cx="10827123" cy="15113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179189" indent="-179189">
              <a:lnSpc>
                <a:spcPts val="1950"/>
              </a:lnSpc>
              <a:buSzPct val="100000"/>
              <a:buFontTx/>
              <a:buAutoNum type="arabicPeriod" startAt="1"/>
            </a:pPr>
            <a:r>
              <a:rPr lang="en-US" sz="1300" dirty="0">
                <a:solidFill>
                  <a:srgbClr val="1B2A22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M. Yang and G. Thung, “Classification of Trash for Recyclability Status,” Stanford CS229, 2016.</a:t>
            </a:r>
            <a:endParaRPr lang="en-US" sz="1300" dirty="0"/>
          </a:p>
          <a:p>
            <a:pPr algn="l" marL="179189" indent="-179189">
              <a:lnSpc>
                <a:spcPts val="1950"/>
              </a:lnSpc>
              <a:buSzPct val="100000"/>
              <a:buFontTx/>
              <a:buAutoNum type="arabicPeriod" startAt="1"/>
            </a:pPr>
            <a:r>
              <a:rPr lang="en-US" sz="1300" dirty="0">
                <a:solidFill>
                  <a:srgbClr val="1B2A22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M. Sandler et al., “MobileNetV2: Inverted Residuals and Linear Bottlenecks,” CVPR, 2018.</a:t>
            </a:r>
            <a:endParaRPr lang="en-US" sz="1300" dirty="0"/>
          </a:p>
          <a:p>
            <a:pPr algn="l" marL="179189" indent="-179189">
              <a:lnSpc>
                <a:spcPts val="1950"/>
              </a:lnSpc>
              <a:buSzPct val="100000"/>
              <a:buFontTx/>
              <a:buAutoNum type="arabicPeriod" startAt="1"/>
            </a:pPr>
            <a:r>
              <a:rPr lang="en-US" sz="1300" dirty="0">
                <a:solidFill>
                  <a:srgbClr val="1B2A22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K. He et al., “Deep Residual Learning for Image Recognition,” CVPR, 2016.</a:t>
            </a:r>
            <a:endParaRPr lang="en-US" sz="1300" dirty="0"/>
          </a:p>
          <a:p>
            <a:pPr algn="l" marL="179189" indent="-179189">
              <a:lnSpc>
                <a:spcPts val="1950"/>
              </a:lnSpc>
              <a:buSzPct val="100000"/>
              <a:buFontTx/>
              <a:buAutoNum type="arabicPeriod" startAt="1"/>
            </a:pPr>
            <a:r>
              <a:rPr lang="en-US" sz="1300" dirty="0">
                <a:solidFill>
                  <a:srgbClr val="1B2A22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M. Tan and Q. V. Le, “EfficientNet: Rethinking Model Scaling for CNNs,” ICML, 2019.</a:t>
            </a:r>
            <a:endParaRPr lang="en-US" sz="1300" dirty="0"/>
          </a:p>
          <a:p>
            <a:pPr algn="l" marL="179189" indent="-179189">
              <a:lnSpc>
                <a:spcPts val="1950"/>
              </a:lnSpc>
              <a:buSzPct val="100000"/>
              <a:buFontTx/>
              <a:buAutoNum type="arabicPeriod" startAt="1"/>
            </a:pPr>
            <a:r>
              <a:rPr lang="en-US" sz="1300" dirty="0">
                <a:solidFill>
                  <a:srgbClr val="1B2A22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TensorFlow / Keras Applications documentation, keras.io/api/applications</a:t>
            </a:r>
            <a:endParaRPr lang="en-US" sz="1300" dirty="0"/>
          </a:p>
          <a:p>
            <a:pPr algn="l" marL="179189" indent="-179189">
              <a:lnSpc>
                <a:spcPts val="1950"/>
              </a:lnSpc>
              <a:buSzPct val="100000"/>
              <a:buFontTx/>
              <a:buAutoNum type="arabicPeriod" startAt="1"/>
            </a:pPr>
            <a:r>
              <a:rPr lang="en-US" sz="1300" dirty="0">
                <a:solidFill>
                  <a:srgbClr val="1B2A22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Flask documentation, flask.palletsprojects.com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812800" y="6238280"/>
            <a:ext cx="588645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C6860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Waste Classification · CNN &amp; Transfer Learning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10693400" y="6238280"/>
            <a:ext cx="6858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C6860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25</a:t>
            </a:r>
            <a:endParaRPr lang="en-US" sz="12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1430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2842915"/>
            <a:ext cx="10883392" cy="9194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7040"/>
              </a:lnSpc>
              <a:buNone/>
            </a:pPr>
            <a:r>
              <a:rPr lang="en-US" sz="6400" b="1" dirty="0">
                <a:solidFill>
                  <a:srgbClr val="F6F5EE"/>
                </a:solidFill>
                <a:latin typeface="Domine" pitchFamily="18" charset="0"/>
                <a:ea typeface="Domine" pitchFamily="18" charset="-122"/>
                <a:cs typeface="Domine" pitchFamily="18" charset="-120"/>
              </a:rPr>
              <a:t>Thank you</a:t>
            </a:r>
            <a:endParaRPr lang="en-US" sz="6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26</Slides>
  <Notes>26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26</vt:i4>
      </vt:variant>
    </vt:vector>
  </HeadingPairs>
  <TitlesOfParts>
    <vt:vector size="2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Waste Classification for Recycling Using CNN and Transfer Learning</dc:title>
  <dc:subject/>
  <dc:creator/>
  <cp:lastModifiedBy/>
  <cp:revision>1</cp:revision>
  <dcterms:created xsi:type="dcterms:W3CDTF">2026-10-14T05:14:16Z</dcterms:created>
  <dcterms:modified xsi:type="dcterms:W3CDTF">2026-10-14T05:14:16Z</dcterms:modified>
</cp:coreProperties>
</file>